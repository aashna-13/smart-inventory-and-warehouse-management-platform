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2" r:id="rId2"/>
    <p:sldId id="257" r:id="rId3"/>
    <p:sldId id="903" r:id="rId4"/>
    <p:sldId id="904" r:id="rId5"/>
    <p:sldId id="905" r:id="rId6"/>
    <p:sldId id="906" r:id="rId7"/>
    <p:sldId id="907" r:id="rId8"/>
    <p:sldId id="912" r:id="rId9"/>
    <p:sldId id="908" r:id="rId10"/>
    <p:sldId id="909" r:id="rId11"/>
    <p:sldId id="910" r:id="rId12"/>
    <p:sldId id="91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930880-FA64-491B-8A4A-E71FD6E7535D}" v="5" dt="2026-09-23T04:07:37.6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karla Sree Vardhan" userId="95f5ac0366469d38" providerId="LiveId" clId="{BC7CAF83-55F0-4DDF-A3E4-516D4FA6BCFD}"/>
    <pc:docChg chg="addSld modSld">
      <pc:chgData name="Kakarla Sree Vardhan" userId="95f5ac0366469d38" providerId="LiveId" clId="{BC7CAF83-55F0-4DDF-A3E4-516D4FA6BCFD}" dt="2026-09-23T04:09:30.204" v="23" actId="14100"/>
      <pc:docMkLst>
        <pc:docMk/>
      </pc:docMkLst>
      <pc:sldChg chg="addSp modSp">
        <pc:chgData name="Kakarla Sree Vardhan" userId="95f5ac0366469d38" providerId="LiveId" clId="{BC7CAF83-55F0-4DDF-A3E4-516D4FA6BCFD}" dt="2026-09-23T03:48:10.327" v="3" actId="767"/>
        <pc:sldMkLst>
          <pc:docMk/>
          <pc:sldMk cId="2247602601" sldId="262"/>
        </pc:sldMkLst>
        <pc:spChg chg="add mod">
          <ac:chgData name="Kakarla Sree Vardhan" userId="95f5ac0366469d38" providerId="LiveId" clId="{BC7CAF83-55F0-4DDF-A3E4-516D4FA6BCFD}" dt="2026-09-23T03:48:10.327" v="3" actId="767"/>
          <ac:spMkLst>
            <pc:docMk/>
            <pc:sldMk cId="2247602601" sldId="262"/>
            <ac:spMk id="2" creationId="{6762FF87-7443-2DFE-995A-CA7CF0C220FC}"/>
          </ac:spMkLst>
        </pc:spChg>
      </pc:sldChg>
      <pc:sldChg chg="modSp mod">
        <pc:chgData name="Kakarla Sree Vardhan" userId="95f5ac0366469d38" providerId="LiveId" clId="{BC7CAF83-55F0-4DDF-A3E4-516D4FA6BCFD}" dt="2026-09-23T03:59:02.929" v="13" actId="12"/>
        <pc:sldMkLst>
          <pc:docMk/>
          <pc:sldMk cId="3917782940" sldId="903"/>
        </pc:sldMkLst>
        <pc:spChg chg="mod">
          <ac:chgData name="Kakarla Sree Vardhan" userId="95f5ac0366469d38" providerId="LiveId" clId="{BC7CAF83-55F0-4DDF-A3E4-516D4FA6BCFD}" dt="2026-09-23T03:59:02.929" v="13" actId="12"/>
          <ac:spMkLst>
            <pc:docMk/>
            <pc:sldMk cId="3917782940" sldId="903"/>
            <ac:spMk id="7" creationId="{4C763CC9-8532-E098-E75B-946EEB237F41}"/>
          </ac:spMkLst>
        </pc:spChg>
      </pc:sldChg>
      <pc:sldChg chg="addSp delSp modSp mod">
        <pc:chgData name="Kakarla Sree Vardhan" userId="95f5ac0366469d38" providerId="LiveId" clId="{BC7CAF83-55F0-4DDF-A3E4-516D4FA6BCFD}" dt="2026-09-23T03:52:00.747" v="6"/>
        <pc:sldMkLst>
          <pc:docMk/>
          <pc:sldMk cId="3917782940" sldId="907"/>
        </pc:sldMkLst>
        <pc:spChg chg="add del mod">
          <ac:chgData name="Kakarla Sree Vardhan" userId="95f5ac0366469d38" providerId="LiveId" clId="{BC7CAF83-55F0-4DDF-A3E4-516D4FA6BCFD}" dt="2026-09-23T03:52:00.747" v="6"/>
          <ac:spMkLst>
            <pc:docMk/>
            <pc:sldMk cId="3917782940" sldId="907"/>
            <ac:spMk id="5" creationId="{19C4CE86-2795-37B0-E1E9-B18E010CD52F}"/>
          </ac:spMkLst>
        </pc:spChg>
        <pc:spChg chg="add del mod">
          <ac:chgData name="Kakarla Sree Vardhan" userId="95f5ac0366469d38" providerId="LiveId" clId="{BC7CAF83-55F0-4DDF-A3E4-516D4FA6BCFD}" dt="2026-09-23T03:46:44.833" v="2"/>
          <ac:spMkLst>
            <pc:docMk/>
            <pc:sldMk cId="3917782940" sldId="907"/>
            <ac:spMk id="5" creationId="{60523567-102B-BAA8-8B55-235C625D3497}"/>
          </ac:spMkLst>
        </pc:spChg>
      </pc:sldChg>
      <pc:sldChg chg="addSp delSp modSp new mod">
        <pc:chgData name="Kakarla Sree Vardhan" userId="95f5ac0366469d38" providerId="LiveId" clId="{BC7CAF83-55F0-4DDF-A3E4-516D4FA6BCFD}" dt="2026-09-23T04:09:30.204" v="23" actId="14100"/>
        <pc:sldMkLst>
          <pc:docMk/>
          <pc:sldMk cId="1386724830" sldId="912"/>
        </pc:sldMkLst>
        <pc:spChg chg="del mod">
          <ac:chgData name="Kakarla Sree Vardhan" userId="95f5ac0366469d38" providerId="LiveId" clId="{BC7CAF83-55F0-4DDF-A3E4-516D4FA6BCFD}" dt="2026-09-23T04:08:01.853" v="17" actId="931"/>
          <ac:spMkLst>
            <pc:docMk/>
            <pc:sldMk cId="1386724830" sldId="912"/>
            <ac:spMk id="3" creationId="{BE26F801-7C7A-872E-4AD2-F7FADCFAFAF7}"/>
          </ac:spMkLst>
        </pc:spChg>
        <pc:picChg chg="add">
          <ac:chgData name="Kakarla Sree Vardhan" userId="95f5ac0366469d38" providerId="LiveId" clId="{BC7CAF83-55F0-4DDF-A3E4-516D4FA6BCFD}" dt="2026-09-23T04:00:07.988" v="15" actId="22"/>
          <ac:picMkLst>
            <pc:docMk/>
            <pc:sldMk cId="1386724830" sldId="912"/>
            <ac:picMk id="8" creationId="{1EBF3D01-0F91-8D3E-1E05-CB768DB6B800}"/>
          </ac:picMkLst>
        </pc:picChg>
        <pc:picChg chg="add mod ord">
          <ac:chgData name="Kakarla Sree Vardhan" userId="95f5ac0366469d38" providerId="LiveId" clId="{BC7CAF83-55F0-4DDF-A3E4-516D4FA6BCFD}" dt="2026-09-23T04:09:30.204" v="23" actId="14100"/>
          <ac:picMkLst>
            <pc:docMk/>
            <pc:sldMk cId="1386724830" sldId="912"/>
            <ac:picMk id="10" creationId="{AE0DBA1C-EC18-1033-1624-9BE98D748D5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F5B5F904-3F1F-4281-A9E1-C2FB746B8BF7}" type="datetime1">
              <a:rPr lang="en-US" smtClean="0"/>
              <a:t>9/23/2026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081D6EA9-74F4-419E-9686-C1380811218E}" type="datetime1">
              <a:rPr lang="en-US" smtClean="0"/>
              <a:t>9/23/2026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F876D309-B4D5-4527-B36F-A10579509D53}" type="datetime1">
              <a:rPr lang="en-US" smtClean="0"/>
              <a:t>9/23/2026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9935E381-5B31-4AF8-B2D5-825A2871D21A}" type="datetime1">
              <a:rPr lang="en-US" smtClean="0"/>
              <a:t>9/23/2026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B058F223-DE04-43B3-A1CA-82C024222846}" type="datetime1">
              <a:rPr lang="en-US" smtClean="0"/>
              <a:t>9/23/2026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r>
              <a:rPr lang="en-US"/>
              <a:t>CNAD Project Review-1</a:t>
            </a:r>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49DC939F-6452-40B3-8B30-A5C8AB6A0DFC}" type="datetime1">
              <a:rPr lang="en-US" smtClean="0"/>
              <a:t>9/23/2026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r>
              <a:rPr lang="en-US"/>
              <a:t>CNAD Project Review-1</a:t>
            </a:r>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5D43805D-913B-4F6D-902C-E5136FBF0E0C}" type="datetime1">
              <a:rPr lang="en-US" smtClean="0"/>
              <a:t>9/23/2026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r>
              <a:rPr lang="en-US"/>
              <a:t>CNAD Project Review-1</a:t>
            </a:r>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3BF5B214-4124-49D8-A24E-DBA27A6445C3}" type="datetime1">
              <a:rPr lang="en-US" smtClean="0"/>
              <a:t>9/23/2026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D956CC-F7C8-47FB-89A1-FBAE32B2A8EB}" type="datetime1">
              <a:rPr lang="en-US" smtClean="0"/>
              <a:t>9/23/2026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r>
              <a:rPr lang="en-US"/>
              <a:t>CNAD Project Review-1</a:t>
            </a:r>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6FF10B40-B78B-4C4B-BDCF-3CB98651AC41}" type="datetime1">
              <a:rPr lang="en-US" smtClean="0"/>
              <a:t>9/23/2026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4B7C7294-1103-4E07-87C3-AC60860F3AE3}" type="datetime1">
              <a:rPr lang="en-US" smtClean="0"/>
              <a:t>9/23/2026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1BE44B-A080-444E-B2F8-66835D348D22}" type="datetime1">
              <a:rPr lang="en-US" smtClean="0"/>
              <a:t>9/23/2026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CNAD Project Review-1</a:t>
            </a:r>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431588860"/>
              </p:ext>
            </p:extLst>
          </p:nvPr>
        </p:nvGraphicFramePr>
        <p:xfrm>
          <a:off x="8193271" y="4898509"/>
          <a:ext cx="3702050" cy="149352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12421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0" kern="1200" dirty="0">
                          <a:solidFill>
                            <a:schemeClr val="dk1"/>
                          </a:solidFill>
                          <a:latin typeface="Times New Roman" panose="02020603050405020304" pitchFamily="18" charset="0"/>
                          <a:ea typeface="Cambria"/>
                          <a:cs typeface="Times New Roman" panose="02020603050405020304" pitchFamily="18" charset="0"/>
                        </a:rPr>
                        <a:t>Aashna Begum - 2420030647</a:t>
                      </a:r>
                      <a:endParaRPr lang="en-IN" sz="1400" b="0"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kern="1200" dirty="0">
                          <a:solidFill>
                            <a:schemeClr val="dk1"/>
                          </a:solidFill>
                          <a:latin typeface="Times New Roman" panose="02020603050405020304" pitchFamily="18" charset="0"/>
                          <a:ea typeface="Cambria"/>
                          <a:cs typeface="Times New Roman" panose="02020603050405020304" pitchFamily="18" charset="0"/>
                        </a:rPr>
                        <a:t>K. Sree Vardhan - 2420030711</a:t>
                      </a:r>
                      <a:endParaRPr lang="en-IN" sz="1400" b="0"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kern="1200" dirty="0">
                          <a:solidFill>
                            <a:schemeClr val="dk1"/>
                          </a:solidFill>
                          <a:latin typeface="Times New Roman" panose="02020603050405020304" pitchFamily="18" charset="0"/>
                          <a:ea typeface="Cambria"/>
                          <a:cs typeface="Times New Roman" panose="02020603050405020304" pitchFamily="18" charset="0"/>
                        </a:rPr>
                        <a:t>M. Asleshitha - </a:t>
                      </a:r>
                      <a:r>
                        <a:rPr lang="en-IN" sz="1400" b="0" kern="1200" dirty="0">
                          <a:solidFill>
                            <a:schemeClr val="dk1"/>
                          </a:solidFill>
                          <a:latin typeface="Times New Roman" panose="02020603050405020304" pitchFamily="18" charset="0"/>
                          <a:ea typeface="Cambria"/>
                          <a:cs typeface="Times New Roman" panose="02020603050405020304" pitchFamily="18" charset="0"/>
                        </a:rPr>
                        <a:t>2420030740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algn="l" defTabSz="914400" rtl="0" eaLnBrk="1" latinLnBrk="0" hangingPunct="1"/>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235881840"/>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Mr. Madhu Guda</a:t>
                      </a:r>
                    </a:p>
                    <a:p>
                      <a:pPr marL="0" indent="0" algn="l">
                        <a:lnSpc>
                          <a:spcPct val="100000"/>
                        </a:lnSpc>
                        <a:spcBef>
                          <a:spcPts val="200"/>
                        </a:spcBef>
                        <a:buSzPts val="810"/>
                        <a:buNone/>
                      </a:pPr>
                      <a:r>
                        <a:rPr lang="en-US" sz="1400" b="0" dirty="0">
                          <a:solidFill>
                            <a:schemeClr val="dk1"/>
                          </a:solidFill>
                          <a:latin typeface="Times New Roman" panose="02020603050405020304" pitchFamily="18" charset="0"/>
                          <a:ea typeface="Cambria"/>
                          <a:cs typeface="Times New Roman" panose="02020603050405020304" pitchFamily="18" charset="0"/>
                          <a:sym typeface="Cambria"/>
                        </a:rPr>
                        <a:t>Assistant Professor</a:t>
                      </a:r>
                    </a:p>
                    <a:p>
                      <a:pPr marL="0" indent="0" algn="l">
                        <a:lnSpc>
                          <a:spcPct val="100000"/>
                        </a:lnSpc>
                        <a:spcBef>
                          <a:spcPts val="200"/>
                        </a:spcBef>
                        <a:buSzPts val="810"/>
                        <a:buNone/>
                      </a:pPr>
                      <a:r>
                        <a:rPr lang="en-US" sz="1400" b="0" dirty="0">
                          <a:solidFill>
                            <a:schemeClr val="dk1"/>
                          </a:solidFill>
                          <a:latin typeface="Times New Roman" panose="02020603050405020304" pitchFamily="18" charset="0"/>
                          <a:ea typeface="Cambria"/>
                          <a:cs typeface="Times New Roman" panose="02020603050405020304" pitchFamily="18" charset="0"/>
                          <a:sym typeface="Cambria"/>
                        </a:rPr>
                        <a:t>Department of CSE,</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fld id="{E8A51D8D-77C0-43B9-9B5F-E46EDA00679A}" type="datetime1">
              <a:rPr lang="en-US" b="1" smtClean="0"/>
              <a:t>9/23/2026</a:t>
            </a:fld>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CNAD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505065" y="850000"/>
            <a:ext cx="10715625" cy="900000"/>
          </a:xfrm>
          <a:prstGeom prst="rect">
            <a:avLst/>
          </a:prstGeom>
          <a:noFill/>
        </p:spPr>
        <p:txBody>
          <a:bodyPr wrap="square" anchor="ctr">
            <a:noAutofit/>
          </a:bodyPr>
          <a:lstStyle/>
          <a:p>
            <a:pPr lvl="0" algn="ctr">
              <a:defRPr/>
            </a:pPr>
            <a:r>
              <a:rPr lang="en-IN" sz="2400" b="1" dirty="0">
                <a:solidFill>
                  <a:schemeClr val="bg1"/>
                </a:solidFill>
                <a:latin typeface="Times New Roman" panose="02020603050405020304" pitchFamily="18" charset="0"/>
                <a:cs typeface="Times New Roman" panose="02020603050405020304" pitchFamily="18" charset="0"/>
              </a:rPr>
              <a:t>Smart Inventory and Warehouse Management Platform</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638175" y="2199745"/>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CNAD Project Review-2</a:t>
            </a:r>
          </a:p>
        </p:txBody>
      </p:sp>
      <p:sp>
        <p:nvSpPr>
          <p:cNvPr id="2" name="TextBox 1">
            <a:extLst>
              <a:ext uri="{FF2B5EF4-FFF2-40B4-BE49-F238E27FC236}">
                <a16:creationId xmlns:a16="http://schemas.microsoft.com/office/drawing/2014/main" id="{6762FF87-7443-2DFE-995A-CA7CF0C220FC}"/>
              </a:ext>
            </a:extLst>
          </p:cNvPr>
          <p:cNvSpPr txBox="1"/>
          <p:nvPr/>
        </p:nvSpPr>
        <p:spPr>
          <a:xfrm>
            <a:off x="49161" y="4552335"/>
            <a:ext cx="184731" cy="369332"/>
          </a:xfrm>
          <a:prstGeom prst="rect">
            <a:avLst/>
          </a:prstGeom>
          <a:noFill/>
        </p:spPr>
        <p:txBody>
          <a:bodyPr wrap="none" rtlCol="0">
            <a:spAutoFit/>
          </a:bodyPr>
          <a:lstStyle/>
          <a:p>
            <a:endParaRPr lang="en-IN"/>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D122E8B8-54AE-F861-D576-B62C19A557BC}"/>
              </a:ext>
            </a:extLst>
          </p:cNvPr>
          <p:cNvSpPr>
            <a:spLocks noGrp="1"/>
          </p:cNvSpPr>
          <p:nvPr>
            <p:ph type="dt" sz="half" idx="10"/>
          </p:nvPr>
        </p:nvSpPr>
        <p:spPr/>
        <p:txBody>
          <a:bodyPr/>
          <a:lstStyle/>
          <a:p>
            <a:fld id="{EEF0E259-4615-46D4-A3BD-7CF5E55937D6}" type="datetime1">
              <a:rPr lang="en-US" smtClean="0"/>
              <a:t>9/23/2026</a:t>
            </a:fld>
            <a:endParaRPr lang="en-US"/>
          </a:p>
        </p:txBody>
      </p:sp>
      <p:sp>
        <p:nvSpPr>
          <p:cNvPr id="4" name="Footer Placeholder 3">
            <a:extLst>
              <a:ext uri="{FF2B5EF4-FFF2-40B4-BE49-F238E27FC236}">
                <a16:creationId xmlns:a16="http://schemas.microsoft.com/office/drawing/2014/main" id="{903DF040-570B-E40C-28DD-48ACF4776D20}"/>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247450DC-5C76-3221-3705-A7713237DE4A}"/>
              </a:ext>
            </a:extLst>
          </p:cNvPr>
          <p:cNvSpPr>
            <a:spLocks noGrp="1"/>
          </p:cNvSpPr>
          <p:nvPr>
            <p:ph type="sldNum" sz="quarter" idx="12"/>
          </p:nvPr>
        </p:nvSpPr>
        <p:spPr/>
        <p:txBody>
          <a:bodyPr/>
          <a:lstStyle/>
          <a:p>
            <a:fld id="{E639234F-78F1-4984-9C4D-D4C7AB587871}" type="slidenum">
              <a:rPr lang="en-US" smtClean="0"/>
              <a:t>2</a:t>
            </a:fld>
            <a:endParaRPr lang="en-US"/>
          </a:p>
        </p:txBody>
      </p:sp>
      <p:sp>
        <p:nvSpPr>
          <p:cNvPr id="8" name="Rectangle: Rounded Corners 7">
            <a:extLst>
              <a:ext uri="{FF2B5EF4-FFF2-40B4-BE49-F238E27FC236}">
                <a16:creationId xmlns:a16="http://schemas.microsoft.com/office/drawing/2014/main" id="{3CB58DBC-97DD-CAE2-6032-D8BF2561F46C}"/>
              </a:ext>
            </a:extLst>
          </p:cNvPr>
          <p:cNvSpPr/>
          <p:nvPr/>
        </p:nvSpPr>
        <p:spPr>
          <a:xfrm>
            <a:off x="3834920" y="136525"/>
            <a:ext cx="410512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Problem Statement</a:t>
            </a:r>
          </a:p>
        </p:txBody>
      </p:sp>
      <p:sp>
        <p:nvSpPr>
          <p:cNvPr id="7" name="TextBox 6">
            <a:extLst>
              <a:ext uri="{FF2B5EF4-FFF2-40B4-BE49-F238E27FC236}">
                <a16:creationId xmlns:a16="http://schemas.microsoft.com/office/drawing/2014/main" id="{9A556B07-2BA9-EF2E-EFEE-441401EEAEB9}"/>
              </a:ext>
            </a:extLst>
          </p:cNvPr>
          <p:cNvSpPr txBox="1"/>
          <p:nvPr/>
        </p:nvSpPr>
        <p:spPr>
          <a:xfrm>
            <a:off x="471948" y="1042626"/>
            <a:ext cx="11248103" cy="4893647"/>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In modern supply chain and retail environments, effective inventory and warehouse management remains a significant challenge due to the reliance on manual processes, fragmented systems, and lack of real-time visibility. Many organizations struggle with issues such as inaccurate stock levels, delayed updates, overstocking, stockouts, and inefficient warehouse operations. These problems lead to increased operational costs, reduced productivity, and poor customer satisfaction. Additionally, the absence of integrated systems makes it difficult to track inventory movement,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data for decision-making, and respond quickly to changing demand patterns. Therefore, there is a need for a centralized, automated, and scalable solution that can provide real-time inventory tracking, streamline warehouse operations, and improve overall efficiency. The proposed Smart Inventory and Warehouse Management Platform aims to address these challenges by integrating modern technologies to ensure accurate data management, enhanced visibility, and optimized resource utilization within warehouse systems.</a:t>
            </a:r>
          </a:p>
        </p:txBody>
      </p:sp>
    </p:spTree>
    <p:extLst>
      <p:ext uri="{BB962C8B-B14F-4D97-AF65-F5344CB8AC3E}">
        <p14:creationId xmlns:p14="http://schemas.microsoft.com/office/powerpoint/2010/main" val="1843937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E1EEFAC-0ECA-A18F-A4B4-033D3711121C}"/>
              </a:ext>
            </a:extLst>
          </p:cNvPr>
          <p:cNvSpPr>
            <a:spLocks noGrp="1"/>
          </p:cNvSpPr>
          <p:nvPr>
            <p:ph type="dt" sz="half" idx="10"/>
          </p:nvPr>
        </p:nvSpPr>
        <p:spPr/>
        <p:txBody>
          <a:bodyPr/>
          <a:lstStyle/>
          <a:p>
            <a:fld id="{2DD399FE-9025-4738-A866-75F92FF5600E}" type="datetime1">
              <a:rPr lang="en-US" smtClean="0"/>
              <a:t>9/23/2026</a:t>
            </a:fld>
            <a:endParaRPr lang="en-US"/>
          </a:p>
        </p:txBody>
      </p:sp>
      <p:sp>
        <p:nvSpPr>
          <p:cNvPr id="4" name="Footer Placeholder 3">
            <a:extLst>
              <a:ext uri="{FF2B5EF4-FFF2-40B4-BE49-F238E27FC236}">
                <a16:creationId xmlns:a16="http://schemas.microsoft.com/office/drawing/2014/main" id="{444FD4BC-7EB9-607E-38E4-8C64E6E11A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124C535C-1312-10F3-FBDA-B7001433D544}"/>
              </a:ext>
            </a:extLst>
          </p:cNvPr>
          <p:cNvSpPr>
            <a:spLocks noGrp="1"/>
          </p:cNvSpPr>
          <p:nvPr>
            <p:ph type="sldNum" sz="quarter" idx="12"/>
          </p:nvPr>
        </p:nvSpPr>
        <p:spPr/>
        <p:txBody>
          <a:bodyPr/>
          <a:lstStyle/>
          <a:p>
            <a:fld id="{E639234F-78F1-4984-9C4D-D4C7AB587871}" type="slidenum">
              <a:rPr lang="en-US" smtClean="0"/>
              <a:t>3</a:t>
            </a:fld>
            <a:endParaRPr lang="en-US"/>
          </a:p>
        </p:txBody>
      </p:sp>
      <p:sp>
        <p:nvSpPr>
          <p:cNvPr id="9" name="Rectangle: Rounded Corners 8">
            <a:extLst>
              <a:ext uri="{FF2B5EF4-FFF2-40B4-BE49-F238E27FC236}">
                <a16:creationId xmlns:a16="http://schemas.microsoft.com/office/drawing/2014/main" id="{BADE4BBA-6735-AAC4-BA57-E76FE3B3CF7A}"/>
              </a:ext>
            </a:extLst>
          </p:cNvPr>
          <p:cNvSpPr/>
          <p:nvPr/>
        </p:nvSpPr>
        <p:spPr>
          <a:xfrm>
            <a:off x="3845080" y="122680"/>
            <a:ext cx="410512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Objectives</a:t>
            </a:r>
          </a:p>
        </p:txBody>
      </p:sp>
      <p:sp>
        <p:nvSpPr>
          <p:cNvPr id="7" name="TextBox 6">
            <a:extLst>
              <a:ext uri="{FF2B5EF4-FFF2-40B4-BE49-F238E27FC236}">
                <a16:creationId xmlns:a16="http://schemas.microsoft.com/office/drawing/2014/main" id="{4C763CC9-8532-E098-E75B-946EEB237F41}"/>
              </a:ext>
            </a:extLst>
          </p:cNvPr>
          <p:cNvSpPr txBox="1"/>
          <p:nvPr/>
        </p:nvSpPr>
        <p:spPr>
          <a:xfrm>
            <a:off x="530942" y="1101212"/>
            <a:ext cx="11189110" cy="4524315"/>
          </a:xfrm>
          <a:prstGeom prst="rect">
            <a:avLst/>
          </a:prstGeom>
          <a:noFill/>
        </p:spPr>
        <p:txBody>
          <a:bodyPr wrap="square">
            <a:spAutoFit/>
          </a:bodyPr>
          <a:lstStyle/>
          <a:p>
            <a:pPr marL="342900" lvl="0" indent="-342900">
              <a:buFont typeface="Arial" panose="020B0604020202020204" pitchFamily="34" charset="0"/>
              <a:buChar char="•"/>
            </a:pPr>
            <a:r>
              <a:rPr lang="en-IN" sz="2400" dirty="0"/>
              <a:t>Develop an automated and scalable system to improve inventory accuracy </a:t>
            </a:r>
          </a:p>
          <a:p>
            <a:pPr marL="342900" lvl="0" indent="-342900">
              <a:buFont typeface="Arial" panose="020B0604020202020204" pitchFamily="34" charset="0"/>
              <a:buChar char="•"/>
            </a:pPr>
            <a:r>
              <a:rPr lang="en-IN" sz="2400" dirty="0"/>
              <a:t>Enable real-time stock tracking for better visibility of inventory movement </a:t>
            </a:r>
          </a:p>
          <a:p>
            <a:pPr marL="342900" lvl="0" indent="-342900">
              <a:buFont typeface="Arial" panose="020B0604020202020204" pitchFamily="34" charset="0"/>
              <a:buChar char="•"/>
            </a:pPr>
            <a:r>
              <a:rPr lang="en-IN" sz="2400" dirty="0"/>
              <a:t>Reduce manual errors and enhance operational transparency </a:t>
            </a:r>
          </a:p>
          <a:p>
            <a:pPr marL="342900" lvl="0" indent="-342900">
              <a:buFont typeface="Arial" panose="020B0604020202020204" pitchFamily="34" charset="0"/>
              <a:buChar char="•"/>
            </a:pPr>
            <a:r>
              <a:rPr lang="en-IN" sz="2400" dirty="0"/>
              <a:t>Streamline warehouse operations such as storage, retrieval, and dispatch </a:t>
            </a:r>
          </a:p>
          <a:p>
            <a:pPr marL="342900" lvl="0" indent="-342900">
              <a:buFont typeface="Arial" panose="020B0604020202020204" pitchFamily="34" charset="0"/>
              <a:buChar char="•"/>
            </a:pPr>
            <a:r>
              <a:rPr lang="en-IN" sz="2400" dirty="0"/>
              <a:t>Improve efficiency and minimize delays in inventory handling </a:t>
            </a:r>
          </a:p>
          <a:p>
            <a:pPr marL="342900" lvl="0" indent="-342900">
              <a:buFont typeface="Arial" panose="020B0604020202020204" pitchFamily="34" charset="0"/>
              <a:buChar char="•"/>
            </a:pPr>
            <a:r>
              <a:rPr lang="en-IN" sz="2400" dirty="0"/>
              <a:t>Prevent overstocking and stockouts using timely alerts and insights </a:t>
            </a:r>
          </a:p>
          <a:p>
            <a:pPr marL="342900" lvl="0" indent="-342900">
              <a:buFont typeface="Arial" panose="020B0604020202020204" pitchFamily="34" charset="0"/>
              <a:buChar char="•"/>
            </a:pPr>
            <a:r>
              <a:rPr lang="en-IN" sz="2400" dirty="0"/>
              <a:t>Provide a centralized platform for managing inventory data </a:t>
            </a:r>
          </a:p>
          <a:p>
            <a:pPr marL="342900" lvl="0" indent="-342900">
              <a:buFont typeface="Arial" panose="020B0604020202020204" pitchFamily="34" charset="0"/>
              <a:buChar char="•"/>
            </a:pPr>
            <a:r>
              <a:rPr lang="en-IN" sz="2400" dirty="0"/>
              <a:t>Support better analysis and informed decision-making </a:t>
            </a:r>
          </a:p>
          <a:p>
            <a:pPr marL="342900" lvl="0" indent="-342900">
              <a:buFont typeface="Arial" panose="020B0604020202020204" pitchFamily="34" charset="0"/>
              <a:buChar char="•"/>
            </a:pPr>
            <a:r>
              <a:rPr lang="en-IN" sz="2400" dirty="0"/>
              <a:t>Ensure secure and easy system access with a user-friendly interface </a:t>
            </a:r>
          </a:p>
          <a:p>
            <a:pPr marL="342900" lvl="0" indent="-342900">
              <a:buFont typeface="Arial" panose="020B0604020202020204" pitchFamily="34" charset="0"/>
              <a:buChar char="•"/>
            </a:pPr>
            <a:r>
              <a:rPr lang="en-IN" sz="2400" dirty="0"/>
              <a:t>Implement role-based access control for different users </a:t>
            </a:r>
          </a:p>
          <a:p>
            <a:pPr marL="342900" lvl="0" indent="-342900">
              <a:buFont typeface="Arial" panose="020B0604020202020204" pitchFamily="34" charset="0"/>
              <a:buChar char="•"/>
            </a:pPr>
            <a:r>
              <a:rPr lang="en-IN" sz="2400" dirty="0"/>
              <a:t>Build a flexible and scalable system adaptable to future technologies </a:t>
            </a:r>
          </a:p>
          <a:p>
            <a:pPr marL="342900" lvl="0" indent="-342900">
              <a:buFont typeface="Arial" panose="020B0604020202020204" pitchFamily="34" charset="0"/>
              <a:buChar char="•"/>
            </a:pPr>
            <a:r>
              <a:rPr lang="en-IN" sz="2400" dirty="0"/>
              <a:t>Enable integration with modern tools and evolving business needs</a:t>
            </a:r>
          </a:p>
        </p:txBody>
      </p:sp>
    </p:spTree>
    <p:extLst>
      <p:ext uri="{BB962C8B-B14F-4D97-AF65-F5344CB8AC3E}">
        <p14:creationId xmlns:p14="http://schemas.microsoft.com/office/powerpoint/2010/main" val="3917782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E1EEFAC-0ECA-A18F-A4B4-033D3711121C}"/>
              </a:ext>
            </a:extLst>
          </p:cNvPr>
          <p:cNvSpPr>
            <a:spLocks noGrp="1"/>
          </p:cNvSpPr>
          <p:nvPr>
            <p:ph type="dt" sz="half" idx="10"/>
          </p:nvPr>
        </p:nvSpPr>
        <p:spPr/>
        <p:txBody>
          <a:bodyPr/>
          <a:lstStyle/>
          <a:p>
            <a:fld id="{2DD399FE-9025-4738-A866-75F92FF5600E}" type="datetime1">
              <a:rPr lang="en-US" smtClean="0"/>
              <a:t>9/23/2026</a:t>
            </a:fld>
            <a:endParaRPr lang="en-US"/>
          </a:p>
        </p:txBody>
      </p:sp>
      <p:sp>
        <p:nvSpPr>
          <p:cNvPr id="4" name="Footer Placeholder 3">
            <a:extLst>
              <a:ext uri="{FF2B5EF4-FFF2-40B4-BE49-F238E27FC236}">
                <a16:creationId xmlns:a16="http://schemas.microsoft.com/office/drawing/2014/main" id="{444FD4BC-7EB9-607E-38E4-8C64E6E11A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124C535C-1312-10F3-FBDA-B7001433D544}"/>
              </a:ext>
            </a:extLst>
          </p:cNvPr>
          <p:cNvSpPr>
            <a:spLocks noGrp="1"/>
          </p:cNvSpPr>
          <p:nvPr>
            <p:ph type="sldNum" sz="quarter" idx="12"/>
          </p:nvPr>
        </p:nvSpPr>
        <p:spPr/>
        <p:txBody>
          <a:bodyPr/>
          <a:lstStyle/>
          <a:p>
            <a:fld id="{E639234F-78F1-4984-9C4D-D4C7AB587871}" type="slidenum">
              <a:rPr lang="en-US" smtClean="0"/>
              <a:t>4</a:t>
            </a:fld>
            <a:endParaRPr lang="en-US"/>
          </a:p>
        </p:txBody>
      </p:sp>
      <p:sp>
        <p:nvSpPr>
          <p:cNvPr id="9" name="Rectangle: Rounded Corners 8"/>
          <p:cNvSpPr/>
          <p:nvPr/>
        </p:nvSpPr>
        <p:spPr>
          <a:xfrm>
            <a:off x="3941000" y="136525"/>
            <a:ext cx="431000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System Requirements</a:t>
            </a:r>
          </a:p>
        </p:txBody>
      </p:sp>
      <p:sp>
        <p:nvSpPr>
          <p:cNvPr id="7" name="TextBox 6"/>
          <p:cNvSpPr txBox="1"/>
          <p:nvPr/>
        </p:nvSpPr>
        <p:spPr>
          <a:xfrm>
            <a:off x="471948" y="1050000"/>
            <a:ext cx="11248103" cy="5300000"/>
          </a:xfrm>
          <a:prstGeom prst="rect">
            <a:avLst/>
          </a:prstGeom>
          <a:noFill/>
        </p:spPr>
        <p:txBody>
          <a:bodyPr wrap="square">
            <a:normAutofit/>
          </a:bodyPr>
          <a:lstStyle/>
          <a:p>
            <a:pPr marL="0" indent="0" algn="l">
              <a:buNone/>
            </a:pPr>
            <a:r>
              <a:rPr lang="en-IN" sz="2200" b="1" dirty="0">
                <a:solidFill>
                  <a:srgbClr val="C00000"/>
                </a:solidFill>
                <a:latin typeface="Times New Roman" panose="02020603050405020304" pitchFamily="18" charset="0"/>
                <a:cs typeface="Times New Roman" panose="02020603050405020304" pitchFamily="18" charset="0"/>
              </a:rPr>
              <a:t>Functional Requirements</a:t>
            </a:r>
          </a:p>
          <a:p>
            <a:pPr marL="342900" indent="-342900" algn="l">
              <a:buFont typeface="Arial" pitchFamily="34" charset="0"/>
              <a:buChar char="•"/>
            </a:pPr>
            <a:r>
              <a:rPr lang="en-IN" sz="2000" dirty="0">
                <a:latin typeface="Times New Roman" panose="02020603050405020304" pitchFamily="18" charset="0"/>
                <a:cs typeface="Times New Roman" panose="02020603050405020304" pitchFamily="18" charset="0"/>
              </a:rPr>
              <a:t>Real-time inventory tracking with automatic stock level updates across all warehouse locations</a:t>
            </a:r>
          </a:p>
          <a:p>
            <a:pPr marL="342900" indent="-342900" algn="l">
              <a:buFont typeface="Arial" pitchFamily="34" charset="0"/>
              <a:buChar char="•"/>
            </a:pPr>
            <a:r>
              <a:rPr lang="en-IN" sz="2000" dirty="0">
                <a:latin typeface="Times New Roman" panose="02020603050405020304" pitchFamily="18" charset="0"/>
                <a:cs typeface="Times New Roman" panose="02020603050405020304" pitchFamily="18" charset="0"/>
              </a:rPr>
              <a:t>Role-based user management for admins, warehouse staff, and managers with secure login</a:t>
            </a:r>
          </a:p>
          <a:p>
            <a:pPr marL="342900" indent="-342900" algn="l">
              <a:buFont typeface="Arial" pitchFamily="34" charset="0"/>
              <a:buChar char="•"/>
            </a:pPr>
            <a:r>
              <a:rPr lang="en-IN" sz="2000" dirty="0">
                <a:latin typeface="Times New Roman" panose="02020603050405020304" pitchFamily="18" charset="0"/>
                <a:cs typeface="Times New Roman" panose="02020603050405020304" pitchFamily="18" charset="0"/>
              </a:rPr>
              <a:t>Add, update, and remove stock entries with barcode/SKU-based identification</a:t>
            </a:r>
          </a:p>
          <a:p>
            <a:pPr marL="342900" indent="-342900" algn="l">
              <a:buFont typeface="Arial" pitchFamily="34" charset="0"/>
              <a:buChar char="•"/>
            </a:pPr>
            <a:r>
              <a:rPr lang="en-IN" sz="2000" dirty="0">
                <a:latin typeface="Times New Roman" panose="02020603050405020304" pitchFamily="18" charset="0"/>
                <a:cs typeface="Times New Roman" panose="02020603050405020304" pitchFamily="18" charset="0"/>
              </a:rPr>
              <a:t>Automated low-stock and overstock alerts and notifications</a:t>
            </a:r>
          </a:p>
          <a:p>
            <a:pPr marL="342900" indent="-342900" algn="l">
              <a:buFont typeface="Arial" pitchFamily="34" charset="0"/>
              <a:buChar char="•"/>
            </a:pPr>
            <a:r>
              <a:rPr lang="en-IN" sz="2000" dirty="0">
                <a:latin typeface="Times New Roman" panose="02020603050405020304" pitchFamily="18" charset="0"/>
                <a:cs typeface="Times New Roman" panose="02020603050405020304" pitchFamily="18" charset="0"/>
              </a:rPr>
              <a:t>Interactive analytics dashboard for reports, trends, and stock insights</a:t>
            </a:r>
          </a:p>
          <a:p>
            <a:pPr marL="0" indent="0" algn="l">
              <a:buNone/>
            </a:pPr>
            <a:r>
              <a:rPr lang="en-IN" sz="2200" b="1" dirty="0">
                <a:solidFill>
                  <a:srgbClr val="C00000"/>
                </a:solidFill>
                <a:latin typeface="Times New Roman" panose="02020603050405020304" pitchFamily="18" charset="0"/>
                <a:cs typeface="Times New Roman" panose="02020603050405020304" pitchFamily="18" charset="0"/>
              </a:rPr>
              <a:t>Non-Functional Requirements</a:t>
            </a:r>
          </a:p>
          <a:p>
            <a:pPr marL="342900" indent="-342900" algn="l">
              <a:buFont typeface="Arial" pitchFamily="34" charset="0"/>
              <a:buChar char="•"/>
            </a:pPr>
            <a:r>
              <a:rPr lang="en-IN" sz="2000" dirty="0">
                <a:latin typeface="Times New Roman" panose="02020603050405020304" pitchFamily="18" charset="0"/>
                <a:cs typeface="Times New Roman" panose="02020603050405020304" pitchFamily="18" charset="0"/>
              </a:rPr>
              <a:t>Scalability to support growing inventory volumes and multiple warehouse locations</a:t>
            </a:r>
          </a:p>
          <a:p>
            <a:pPr marL="342900" indent="-342900" algn="l">
              <a:buFont typeface="Arial" pitchFamily="34" charset="0"/>
              <a:buChar char="•"/>
            </a:pPr>
            <a:r>
              <a:rPr lang="en-IN" sz="2000" dirty="0">
                <a:latin typeface="Times New Roman" panose="02020603050405020304" pitchFamily="18" charset="0"/>
                <a:cs typeface="Times New Roman" panose="02020603050405020304" pitchFamily="18" charset="0"/>
              </a:rPr>
              <a:t>High performance with fast query response even under concurrent multi-user access</a:t>
            </a:r>
          </a:p>
          <a:p>
            <a:pPr marL="342900" indent="-342900" algn="l">
              <a:buFont typeface="Arial" pitchFamily="34" charset="0"/>
              <a:buChar char="•"/>
            </a:pPr>
            <a:r>
              <a:rPr lang="en-IN" sz="2000" dirty="0">
                <a:latin typeface="Times New Roman" panose="02020603050405020304" pitchFamily="18" charset="0"/>
                <a:cs typeface="Times New Roman" panose="02020603050405020304" pitchFamily="18" charset="0"/>
              </a:rPr>
              <a:t>Security through encrypted data storage, authentication, and role-based access control</a:t>
            </a:r>
          </a:p>
          <a:p>
            <a:pPr marL="342900" indent="-342900" algn="l">
              <a:buFont typeface="Arial" pitchFamily="34" charset="0"/>
              <a:buChar char="•"/>
            </a:pPr>
            <a:r>
              <a:rPr lang="en-IN" sz="2000" dirty="0">
                <a:latin typeface="Times New Roman" panose="02020603050405020304" pitchFamily="18" charset="0"/>
                <a:cs typeface="Times New Roman" panose="02020603050405020304" pitchFamily="18" charset="0"/>
              </a:rPr>
              <a:t>Reliability and availability with minimal downtime and consistent data accuracy</a:t>
            </a:r>
          </a:p>
          <a:p>
            <a:pPr marL="342900" indent="-342900" algn="l">
              <a:buFont typeface="Arial" pitchFamily="34" charset="0"/>
              <a:buChar char="•"/>
            </a:pPr>
            <a:r>
              <a:rPr lang="en-IN" sz="2000" dirty="0">
                <a:latin typeface="Times New Roman" panose="02020603050405020304" pitchFamily="18" charset="0"/>
                <a:cs typeface="Times New Roman" panose="02020603050405020304" pitchFamily="18" charset="0"/>
              </a:rPr>
              <a:t>Usability through a clean, intuitive, and responsive user interface</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E1EEFAC-0ECA-A18F-A4B4-033D3711121C}"/>
              </a:ext>
            </a:extLst>
          </p:cNvPr>
          <p:cNvSpPr>
            <a:spLocks noGrp="1"/>
          </p:cNvSpPr>
          <p:nvPr>
            <p:ph type="dt" sz="half" idx="10"/>
          </p:nvPr>
        </p:nvSpPr>
        <p:spPr/>
        <p:txBody>
          <a:bodyPr/>
          <a:lstStyle/>
          <a:p>
            <a:fld id="{2DD399FE-9025-4738-A866-75F92FF5600E}" type="datetime1">
              <a:rPr lang="en-US" smtClean="0"/>
              <a:t>9/23/2026</a:t>
            </a:fld>
            <a:endParaRPr lang="en-US"/>
          </a:p>
        </p:txBody>
      </p:sp>
      <p:sp>
        <p:nvSpPr>
          <p:cNvPr id="4" name="Footer Placeholder 3">
            <a:extLst>
              <a:ext uri="{FF2B5EF4-FFF2-40B4-BE49-F238E27FC236}">
                <a16:creationId xmlns:a16="http://schemas.microsoft.com/office/drawing/2014/main" id="{444FD4BC-7EB9-607E-38E4-8C64E6E11A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124C535C-1312-10F3-FBDA-B7001433D544}"/>
              </a:ext>
            </a:extLst>
          </p:cNvPr>
          <p:cNvSpPr>
            <a:spLocks noGrp="1"/>
          </p:cNvSpPr>
          <p:nvPr>
            <p:ph type="sldNum" sz="quarter" idx="12"/>
          </p:nvPr>
        </p:nvSpPr>
        <p:spPr/>
        <p:txBody>
          <a:bodyPr/>
          <a:lstStyle/>
          <a:p>
            <a:fld id="{E639234F-78F1-4984-9C4D-D4C7AB587871}" type="slidenum">
              <a:rPr lang="en-US" smtClean="0"/>
              <a:t>5</a:t>
            </a:fld>
            <a:endParaRPr lang="en-US"/>
          </a:p>
        </p:txBody>
      </p:sp>
      <p:sp>
        <p:nvSpPr>
          <p:cNvPr id="9" name="Rectangle: Rounded Corners 8"/>
          <p:cNvSpPr/>
          <p:nvPr/>
        </p:nvSpPr>
        <p:spPr>
          <a:xfrm>
            <a:off x="3086000" y="136525"/>
            <a:ext cx="602000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System Architecture &amp; Design</a:t>
            </a:r>
          </a:p>
        </p:txBody>
      </p:sp>
      <p:sp>
        <p:nvSpPr>
          <p:cNvPr id="20" name="FlowBox 20"/>
          <p:cNvSpPr/>
          <p:nvPr/>
        </p:nvSpPr>
        <p:spPr>
          <a:xfrm>
            <a:off x="4646000" y="1050000"/>
            <a:ext cx="2900000" cy="700000"/>
          </a:xfrm>
          <a:prstGeom prst="roundRect">
            <a:avLst/>
          </a:prstGeom>
          <a:solidFill>
            <a:srgbClr val="FFFFFF"/>
          </a:solidFill>
          <a:ln w="19050">
            <a:solidFill>
              <a:srgbClr val="C00000"/>
            </a:solidFill>
          </a:ln>
        </p:spPr>
        <p:txBody>
          <a:bodyPr wrap="square" rtlCol="0" anchor="ctr">
            <a:normAutofit/>
          </a:bodyPr>
          <a:lstStyle/>
          <a:p>
            <a:pPr algn="ctr"/>
            <a:r>
              <a:rPr lang="en-US" sz="1500" b="1" dirty="0">
                <a:solidFill>
                  <a:srgbClr val="C00000"/>
                </a:solidFill>
                <a:latin typeface="Times New Roman" panose="02020603050405020304" pitchFamily="18" charset="0"/>
                <a:cs typeface="Times New Roman" panose="02020603050405020304" pitchFamily="18" charset="0"/>
              </a:rPr>
              <a:t>User / Warehouse Staff</a:t>
            </a:r>
          </a:p>
        </p:txBody>
      </p:sp>
      <p:sp>
        <p:nvSpPr>
          <p:cNvPr id="21" name="Arrow 21"/>
          <p:cNvSpPr/>
          <p:nvPr/>
        </p:nvSpPr>
        <p:spPr>
          <a:xfrm>
            <a:off x="5921000" y="1800000"/>
            <a:ext cx="350000" cy="350000"/>
          </a:xfrm>
          <a:prstGeom prst="downArrow">
            <a:avLst/>
          </a:prstGeom>
          <a:solidFill>
            <a:srgbClr val="C00000"/>
          </a:solidFill>
          <a:ln>
            <a:noFill/>
          </a:ln>
        </p:spPr>
        <p:txBody>
          <a:bodyPr/>
          <a:lstStyle/>
          <a:p>
            <a:endParaRPr lang="en-US"/>
          </a:p>
        </p:txBody>
      </p:sp>
      <p:sp>
        <p:nvSpPr>
          <p:cNvPr id="30" name="FlowBox 30"/>
          <p:cNvSpPr/>
          <p:nvPr/>
        </p:nvSpPr>
        <p:spPr>
          <a:xfrm>
            <a:off x="946000" y="2350000"/>
            <a:ext cx="2350000" cy="1000000"/>
          </a:xfrm>
          <a:prstGeom prst="roundRect">
            <a:avLst/>
          </a:prstGeom>
          <a:solidFill>
            <a:srgbClr val="FBE4E4"/>
          </a:solidFill>
          <a:ln w="19050">
            <a:solidFill>
              <a:srgbClr val="C00000"/>
            </a:solidFill>
          </a:ln>
        </p:spPr>
        <p:txBody>
          <a:bodyPr wrap="square" rtlCol="0" anchor="ctr">
            <a:normAutofit/>
          </a:bodyPr>
          <a:lstStyle/>
          <a:p>
            <a:pPr algn="ctr"/>
            <a:r>
              <a:rPr lang="en-US" sz="1400" b="1" dirty="0">
                <a:solidFill>
                  <a:srgbClr val="C00000"/>
                </a:solidFill>
                <a:latin typeface="Times New Roman" panose="02020603050405020304" pitchFamily="18" charset="0"/>
                <a:cs typeface="Times New Roman" panose="02020603050405020304" pitchFamily="18" charset="0"/>
              </a:rPr>
              <a:t>Frontend - React.js (Web UI)</a:t>
            </a:r>
          </a:p>
        </p:txBody>
      </p:sp>
      <p:sp>
        <p:nvSpPr>
          <p:cNvPr id="40" name="Arrow 40"/>
          <p:cNvSpPr/>
          <p:nvPr/>
        </p:nvSpPr>
        <p:spPr>
          <a:xfrm>
            <a:off x="3316000" y="2700000"/>
            <a:ext cx="260000" cy="300000"/>
          </a:xfrm>
          <a:prstGeom prst="rightArrow">
            <a:avLst/>
          </a:prstGeom>
          <a:solidFill>
            <a:srgbClr val="C00000"/>
          </a:solidFill>
          <a:ln>
            <a:noFill/>
          </a:ln>
        </p:spPr>
        <p:txBody>
          <a:bodyPr/>
          <a:lstStyle/>
          <a:p>
            <a:endParaRPr lang="en-US"/>
          </a:p>
        </p:txBody>
      </p:sp>
      <p:sp>
        <p:nvSpPr>
          <p:cNvPr id="31" name="FlowBox 31"/>
          <p:cNvSpPr/>
          <p:nvPr/>
        </p:nvSpPr>
        <p:spPr>
          <a:xfrm>
            <a:off x="3596000" y="2350000"/>
            <a:ext cx="2350000" cy="1000000"/>
          </a:xfrm>
          <a:prstGeom prst="roundRect">
            <a:avLst/>
          </a:prstGeom>
          <a:solidFill>
            <a:srgbClr val="FBE4E4"/>
          </a:solidFill>
          <a:ln w="19050">
            <a:solidFill>
              <a:srgbClr val="C00000"/>
            </a:solidFill>
          </a:ln>
        </p:spPr>
        <p:txBody>
          <a:bodyPr wrap="square" rtlCol="0" anchor="ctr">
            <a:normAutofit/>
          </a:bodyPr>
          <a:lstStyle/>
          <a:p>
            <a:pPr algn="ctr"/>
            <a:r>
              <a:rPr lang="en-US" sz="1400" b="1" dirty="0">
                <a:solidFill>
                  <a:srgbClr val="C00000"/>
                </a:solidFill>
                <a:latin typeface="Times New Roman" panose="02020603050405020304" pitchFamily="18" charset="0"/>
                <a:cs typeface="Times New Roman" panose="02020603050405020304" pitchFamily="18" charset="0"/>
              </a:rPr>
              <a:t>Backend - Node.js / Spring Boot (REST APIs)</a:t>
            </a:r>
          </a:p>
        </p:txBody>
      </p:sp>
      <p:sp>
        <p:nvSpPr>
          <p:cNvPr id="41" name="Arrow 41"/>
          <p:cNvSpPr/>
          <p:nvPr/>
        </p:nvSpPr>
        <p:spPr>
          <a:xfrm>
            <a:off x="5966000" y="2700000"/>
            <a:ext cx="260000" cy="300000"/>
          </a:xfrm>
          <a:prstGeom prst="rightArrow">
            <a:avLst/>
          </a:prstGeom>
          <a:solidFill>
            <a:srgbClr val="C00000"/>
          </a:solidFill>
          <a:ln>
            <a:noFill/>
          </a:ln>
        </p:spPr>
        <p:txBody>
          <a:bodyPr/>
          <a:lstStyle/>
          <a:p>
            <a:endParaRPr lang="en-US"/>
          </a:p>
        </p:txBody>
      </p:sp>
      <p:sp>
        <p:nvSpPr>
          <p:cNvPr id="32" name="FlowBox 32"/>
          <p:cNvSpPr/>
          <p:nvPr/>
        </p:nvSpPr>
        <p:spPr>
          <a:xfrm>
            <a:off x="6246000" y="2350000"/>
            <a:ext cx="2350000" cy="1000000"/>
          </a:xfrm>
          <a:prstGeom prst="roundRect">
            <a:avLst/>
          </a:prstGeom>
          <a:solidFill>
            <a:srgbClr val="FBE4E4"/>
          </a:solidFill>
          <a:ln w="19050">
            <a:solidFill>
              <a:srgbClr val="C00000"/>
            </a:solidFill>
          </a:ln>
        </p:spPr>
        <p:txBody>
          <a:bodyPr wrap="square" rtlCol="0" anchor="ctr">
            <a:normAutofit/>
          </a:bodyPr>
          <a:lstStyle/>
          <a:p>
            <a:pPr algn="ctr"/>
            <a:r>
              <a:rPr lang="en-US" sz="1400" b="1" dirty="0">
                <a:solidFill>
                  <a:srgbClr val="C00000"/>
                </a:solidFill>
                <a:latin typeface="Times New Roman" panose="02020603050405020304" pitchFamily="18" charset="0"/>
                <a:cs typeface="Times New Roman" panose="02020603050405020304" pitchFamily="18" charset="0"/>
              </a:rPr>
              <a:t>Database - MySQL / MongoDB</a:t>
            </a:r>
          </a:p>
        </p:txBody>
      </p:sp>
      <p:sp>
        <p:nvSpPr>
          <p:cNvPr id="42" name="Arrow 42"/>
          <p:cNvSpPr/>
          <p:nvPr/>
        </p:nvSpPr>
        <p:spPr>
          <a:xfrm>
            <a:off x="8616000" y="2700000"/>
            <a:ext cx="260000" cy="300000"/>
          </a:xfrm>
          <a:prstGeom prst="rightArrow">
            <a:avLst/>
          </a:prstGeom>
          <a:solidFill>
            <a:srgbClr val="C00000"/>
          </a:solidFill>
          <a:ln>
            <a:noFill/>
          </a:ln>
        </p:spPr>
        <p:txBody>
          <a:bodyPr/>
          <a:lstStyle/>
          <a:p>
            <a:endParaRPr lang="en-US"/>
          </a:p>
        </p:txBody>
      </p:sp>
      <p:sp>
        <p:nvSpPr>
          <p:cNvPr id="33" name="FlowBox 33"/>
          <p:cNvSpPr/>
          <p:nvPr/>
        </p:nvSpPr>
        <p:spPr>
          <a:xfrm>
            <a:off x="8896000" y="2350000"/>
            <a:ext cx="2350000" cy="1000000"/>
          </a:xfrm>
          <a:prstGeom prst="roundRect">
            <a:avLst/>
          </a:prstGeom>
          <a:solidFill>
            <a:srgbClr val="FBE4E4"/>
          </a:solidFill>
          <a:ln w="19050">
            <a:solidFill>
              <a:srgbClr val="C00000"/>
            </a:solidFill>
          </a:ln>
        </p:spPr>
        <p:txBody>
          <a:bodyPr wrap="square" rtlCol="0" anchor="ctr">
            <a:normAutofit/>
          </a:bodyPr>
          <a:lstStyle/>
          <a:p>
            <a:pPr algn="ctr"/>
            <a:r>
              <a:rPr lang="en-US" sz="1400" b="1" dirty="0">
                <a:solidFill>
                  <a:srgbClr val="C00000"/>
                </a:solidFill>
                <a:latin typeface="Times New Roman" panose="02020603050405020304" pitchFamily="18" charset="0"/>
                <a:cs typeface="Times New Roman" panose="02020603050405020304" pitchFamily="18" charset="0"/>
              </a:rPr>
              <a:t>Cloud &amp; Deployment - AWS / Docker</a:t>
            </a:r>
          </a:p>
        </p:txBody>
      </p:sp>
      <p:sp>
        <p:nvSpPr>
          <p:cNvPr id="50" name="TextBox 49"/>
          <p:cNvSpPr txBox="1"/>
          <p:nvPr/>
        </p:nvSpPr>
        <p:spPr>
          <a:xfrm>
            <a:off x="471948" y="3800000"/>
            <a:ext cx="11248103" cy="2500000"/>
          </a:xfrm>
          <a:prstGeom prst="rect">
            <a:avLst/>
          </a:prstGeom>
          <a:noFill/>
        </p:spPr>
        <p:txBody>
          <a:bodyPr wrap="square">
            <a:normAutofit/>
          </a:bodyPr>
          <a:lstStyle/>
          <a:p>
            <a:pPr algn="just">
              <a:buNone/>
            </a:pPr>
            <a:r>
              <a:rPr lang="en-IN" sz="1800" dirty="0">
                <a:latin typeface="Times New Roman" panose="02020603050405020304" pitchFamily="18" charset="0"/>
                <a:cs typeface="Times New Roman" panose="02020603050405020304" pitchFamily="18" charset="0"/>
              </a:rPr>
              <a:t>Data Flow: The user interacts with the React-based frontend, which sends REST API requests to the Node.js/Spring Boot backend. The backend applies business logic and validation, then reads from and writes to the MySQL/MongoDB database to fetch or update inventory records. Processed results and analytics are returned to the frontend for display on the dashboard.</a:t>
            </a:r>
          </a:p>
          <a:p>
            <a:pPr algn="just">
              <a:buNone/>
            </a:pPr>
            <a:r>
              <a:rPr lang="en-IN" sz="1800" dirty="0">
                <a:latin typeface="Times New Roman" panose="02020603050405020304" pitchFamily="18" charset="0"/>
                <a:cs typeface="Times New Roman" panose="02020603050405020304" pitchFamily="18" charset="0"/>
              </a:rPr>
              <a:t>The entire stack is containerized and hosted on a cloud platform (AWS/Docker), enabling scalability, high availability, and easy deployment of updates across environments.</a:t>
            </a:r>
          </a:p>
        </p:txBody>
      </p:sp>
    </p:spTree>
    <p:extLst>
      <p:ext uri="{BB962C8B-B14F-4D97-AF65-F5344CB8AC3E}">
        <p14:creationId xmlns:p14="http://schemas.microsoft.com/office/powerpoint/2010/main" val="3917782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E1EEFAC-0ECA-A18F-A4B4-033D3711121C}"/>
              </a:ext>
            </a:extLst>
          </p:cNvPr>
          <p:cNvSpPr>
            <a:spLocks noGrp="1"/>
          </p:cNvSpPr>
          <p:nvPr>
            <p:ph type="dt" sz="half" idx="10"/>
          </p:nvPr>
        </p:nvSpPr>
        <p:spPr/>
        <p:txBody>
          <a:bodyPr/>
          <a:lstStyle/>
          <a:p>
            <a:fld id="{2DD399FE-9025-4738-A866-75F92FF5600E}" type="datetime1">
              <a:rPr lang="en-US" smtClean="0"/>
              <a:t>9/23/2026</a:t>
            </a:fld>
            <a:endParaRPr lang="en-US"/>
          </a:p>
        </p:txBody>
      </p:sp>
      <p:sp>
        <p:nvSpPr>
          <p:cNvPr id="4" name="Footer Placeholder 3">
            <a:extLst>
              <a:ext uri="{FF2B5EF4-FFF2-40B4-BE49-F238E27FC236}">
                <a16:creationId xmlns:a16="http://schemas.microsoft.com/office/drawing/2014/main" id="{444FD4BC-7EB9-607E-38E4-8C64E6E11A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124C535C-1312-10F3-FBDA-B7001433D544}"/>
              </a:ext>
            </a:extLst>
          </p:cNvPr>
          <p:cNvSpPr>
            <a:spLocks noGrp="1"/>
          </p:cNvSpPr>
          <p:nvPr>
            <p:ph type="sldNum" sz="quarter" idx="12"/>
          </p:nvPr>
        </p:nvSpPr>
        <p:spPr/>
        <p:txBody>
          <a:bodyPr/>
          <a:lstStyle/>
          <a:p>
            <a:fld id="{E639234F-78F1-4984-9C4D-D4C7AB587871}" type="slidenum">
              <a:rPr lang="en-US" smtClean="0"/>
              <a:t>6</a:t>
            </a:fld>
            <a:endParaRPr lang="en-US"/>
          </a:p>
        </p:txBody>
      </p:sp>
      <p:sp>
        <p:nvSpPr>
          <p:cNvPr id="9" name="Rectangle: Rounded Corners 8"/>
          <p:cNvSpPr/>
          <p:nvPr/>
        </p:nvSpPr>
        <p:spPr>
          <a:xfrm>
            <a:off x="2991000" y="136525"/>
            <a:ext cx="621000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Module-wise Description (1/2)</a:t>
            </a:r>
          </a:p>
        </p:txBody>
      </p:sp>
      <p:sp>
        <p:nvSpPr>
          <p:cNvPr id="100" name="Circle 100"/>
          <p:cNvSpPr/>
          <p:nvPr/>
        </p:nvSpPr>
        <p:spPr>
          <a:xfrm>
            <a:off x="700000" y="1666666"/>
            <a:ext cx="700000" cy="700000"/>
          </a:xfrm>
          <a:prstGeom prst="ellipse">
            <a:avLst/>
          </a:prstGeom>
          <a:solidFill>
            <a:srgbClr val="C00000"/>
          </a:solidFill>
          <a:ln>
            <a:noFill/>
          </a:ln>
        </p:spPr>
        <p:txBody>
          <a:bodyPr anchor="ctr"/>
          <a:lstStyle/>
          <a:p>
            <a:pPr algn="ctr"/>
            <a:r>
              <a:rPr lang="en-US" sz="2000" b="1" dirty="0">
                <a:solidFill>
                  <a:schemeClr val="bg1"/>
                </a:solidFill>
                <a:latin typeface="Times New Roman" panose="02020603050405020304" pitchFamily="18" charset="0"/>
                <a:cs typeface="Times New Roman" panose="02020603050405020304" pitchFamily="18" charset="0"/>
              </a:rPr>
              <a:t>1</a:t>
            </a:r>
          </a:p>
        </p:txBody>
      </p:sp>
      <p:sp>
        <p:nvSpPr>
          <p:cNvPr id="110" name="TextBox 110"/>
          <p:cNvSpPr txBox="1"/>
          <p:nvPr/>
        </p:nvSpPr>
        <p:spPr>
          <a:xfrm>
            <a:off x="1650000" y="1140000"/>
            <a:ext cx="10000000" cy="1753333"/>
          </a:xfrm>
          <a:prstGeom prst="rect">
            <a:avLst/>
          </a:prstGeom>
          <a:noFill/>
        </p:spPr>
        <p:txBody>
          <a:bodyPr wrap="square" anchor="ctr">
            <a:normAutofit/>
          </a:bodyPr>
          <a:lstStyle/>
          <a:p>
            <a:pPr marL="0" indent="0" algn="l">
              <a:buNone/>
            </a:pPr>
            <a:r>
              <a:rPr lang="en-IN" sz="2200" b="1" i="0" dirty="0">
                <a:solidFill>
                  <a:srgbClr val="C00000"/>
                </a:solidFill>
                <a:latin typeface="Times New Roman" panose="02020603050405020304" pitchFamily="18" charset="0"/>
                <a:cs typeface="Times New Roman" panose="02020603050405020304" pitchFamily="18" charset="0"/>
              </a:rPr>
              <a:t>User Management Module</a:t>
            </a:r>
          </a:p>
          <a:p>
            <a:pPr marL="0" indent="0" algn="l">
              <a:buNone/>
            </a:pPr>
            <a:r>
              <a:rPr lang="en-IN" sz="1700" b="0" i="0" dirty="0">
                <a:latin typeface="Times New Roman" panose="02020603050405020304" pitchFamily="18" charset="0"/>
                <a:cs typeface="Times New Roman" panose="02020603050405020304" pitchFamily="18" charset="0"/>
              </a:rPr>
              <a:t>Handles secure login, registration, and role-based access for admins, warehouse staff, and managers, controlling what each role can view or modify.</a:t>
            </a:r>
          </a:p>
          <a:p>
            <a:pPr marL="0" indent="0" algn="l">
              <a:buNone/>
            </a:pPr>
            <a:r>
              <a:rPr lang="en-IN" sz="1500" b="0" i="1" dirty="0">
                <a:solidFill>
                  <a:srgbClr val="555555"/>
                </a:solidFill>
                <a:latin typeface="Times New Roman" panose="02020603050405020304" pitchFamily="18" charset="0"/>
                <a:cs typeface="Times New Roman" panose="02020603050405020304" pitchFamily="18" charset="0"/>
              </a:rPr>
              <a:t>Technologies: React (UI), Node.js/Spring Boot (auth APIs), JWT-based session handling.</a:t>
            </a:r>
          </a:p>
        </p:txBody>
      </p:sp>
      <p:sp>
        <p:nvSpPr>
          <p:cNvPr id="101" name="Circle 101"/>
          <p:cNvSpPr/>
          <p:nvPr/>
        </p:nvSpPr>
        <p:spPr>
          <a:xfrm>
            <a:off x="700000" y="3499999"/>
            <a:ext cx="700000" cy="700000"/>
          </a:xfrm>
          <a:prstGeom prst="ellipse">
            <a:avLst/>
          </a:prstGeom>
          <a:solidFill>
            <a:srgbClr val="C00000"/>
          </a:solidFill>
          <a:ln>
            <a:noFill/>
          </a:ln>
        </p:spPr>
        <p:txBody>
          <a:bodyPr anchor="ctr"/>
          <a:lstStyle/>
          <a:p>
            <a:pPr algn="ctr"/>
            <a:r>
              <a:rPr lang="en-US" sz="2000" b="1" dirty="0">
                <a:solidFill>
                  <a:schemeClr val="bg1"/>
                </a:solidFill>
                <a:latin typeface="Times New Roman" panose="02020603050405020304" pitchFamily="18" charset="0"/>
                <a:cs typeface="Times New Roman" panose="02020603050405020304" pitchFamily="18" charset="0"/>
              </a:rPr>
              <a:t>2</a:t>
            </a:r>
          </a:p>
        </p:txBody>
      </p:sp>
      <p:sp>
        <p:nvSpPr>
          <p:cNvPr id="111" name="TextBox 111"/>
          <p:cNvSpPr txBox="1"/>
          <p:nvPr/>
        </p:nvSpPr>
        <p:spPr>
          <a:xfrm>
            <a:off x="1650000" y="2973333"/>
            <a:ext cx="10000000" cy="1753333"/>
          </a:xfrm>
          <a:prstGeom prst="rect">
            <a:avLst/>
          </a:prstGeom>
          <a:noFill/>
        </p:spPr>
        <p:txBody>
          <a:bodyPr wrap="square" anchor="ctr">
            <a:normAutofit/>
          </a:bodyPr>
          <a:lstStyle/>
          <a:p>
            <a:pPr marL="0" indent="0" algn="l">
              <a:buNone/>
            </a:pPr>
            <a:r>
              <a:rPr lang="en-IN" sz="2200" b="1" i="0" dirty="0">
                <a:solidFill>
                  <a:srgbClr val="C00000"/>
                </a:solidFill>
                <a:latin typeface="Times New Roman" panose="02020603050405020304" pitchFamily="18" charset="0"/>
                <a:cs typeface="Times New Roman" panose="02020603050405020304" pitchFamily="18" charset="0"/>
              </a:rPr>
              <a:t>Inventory Management Module</a:t>
            </a:r>
          </a:p>
          <a:p>
            <a:pPr marL="0" indent="0" algn="l">
              <a:buNone/>
            </a:pPr>
            <a:r>
              <a:rPr lang="en-IN" sz="1700" b="0" i="0" dirty="0">
                <a:latin typeface="Times New Roman" panose="02020603050405020304" pitchFamily="18" charset="0"/>
                <a:cs typeface="Times New Roman" panose="02020603050405020304" pitchFamily="18" charset="0"/>
              </a:rPr>
              <a:t>Allows staff to add, update, and remove stock items with SKU/barcode identification, maintaining accurate, real-time item-level records.</a:t>
            </a:r>
          </a:p>
          <a:p>
            <a:pPr marL="0" indent="0" algn="l">
              <a:buNone/>
            </a:pPr>
            <a:r>
              <a:rPr lang="en-IN" sz="1500" b="0" i="1" dirty="0">
                <a:solidFill>
                  <a:srgbClr val="555555"/>
                </a:solidFill>
                <a:latin typeface="Times New Roman" panose="02020603050405020304" pitchFamily="18" charset="0"/>
                <a:cs typeface="Times New Roman" panose="02020603050405020304" pitchFamily="18" charset="0"/>
              </a:rPr>
              <a:t>Technologies: React forms, REST APIs, MySQL/MongoDB for item and quantity records.</a:t>
            </a:r>
          </a:p>
        </p:txBody>
      </p:sp>
      <p:sp>
        <p:nvSpPr>
          <p:cNvPr id="102" name="Circle 102"/>
          <p:cNvSpPr/>
          <p:nvPr/>
        </p:nvSpPr>
        <p:spPr>
          <a:xfrm>
            <a:off x="700000" y="5333332"/>
            <a:ext cx="700000" cy="700000"/>
          </a:xfrm>
          <a:prstGeom prst="ellipse">
            <a:avLst/>
          </a:prstGeom>
          <a:solidFill>
            <a:srgbClr val="C00000"/>
          </a:solidFill>
          <a:ln>
            <a:noFill/>
          </a:ln>
        </p:spPr>
        <p:txBody>
          <a:bodyPr anchor="ctr"/>
          <a:lstStyle/>
          <a:p>
            <a:pPr algn="ctr"/>
            <a:r>
              <a:rPr lang="en-US" sz="2000" b="1" dirty="0">
                <a:solidFill>
                  <a:schemeClr val="bg1"/>
                </a:solidFill>
                <a:latin typeface="Times New Roman" panose="02020603050405020304" pitchFamily="18" charset="0"/>
                <a:cs typeface="Times New Roman" panose="02020603050405020304" pitchFamily="18" charset="0"/>
              </a:rPr>
              <a:t>3</a:t>
            </a:r>
          </a:p>
        </p:txBody>
      </p:sp>
      <p:sp>
        <p:nvSpPr>
          <p:cNvPr id="112" name="TextBox 112"/>
          <p:cNvSpPr txBox="1"/>
          <p:nvPr/>
        </p:nvSpPr>
        <p:spPr>
          <a:xfrm>
            <a:off x="1650000" y="4806666"/>
            <a:ext cx="10000000" cy="1753333"/>
          </a:xfrm>
          <a:prstGeom prst="rect">
            <a:avLst/>
          </a:prstGeom>
          <a:noFill/>
        </p:spPr>
        <p:txBody>
          <a:bodyPr wrap="square" anchor="ctr">
            <a:normAutofit/>
          </a:bodyPr>
          <a:lstStyle/>
          <a:p>
            <a:pPr marL="0" indent="0" algn="l">
              <a:buNone/>
            </a:pPr>
            <a:r>
              <a:rPr lang="en-IN" sz="2200" b="1" i="0" dirty="0">
                <a:solidFill>
                  <a:srgbClr val="C00000"/>
                </a:solidFill>
                <a:latin typeface="Times New Roman" panose="02020603050405020304" pitchFamily="18" charset="0"/>
                <a:cs typeface="Times New Roman" panose="02020603050405020304" pitchFamily="18" charset="0"/>
              </a:rPr>
              <a:t>Warehouse Operations Module</a:t>
            </a:r>
          </a:p>
          <a:p>
            <a:pPr marL="0" indent="0" algn="l">
              <a:buNone/>
            </a:pPr>
            <a:r>
              <a:rPr lang="en-IN" sz="1700" b="0" i="0" dirty="0">
                <a:latin typeface="Times New Roman" panose="02020603050405020304" pitchFamily="18" charset="0"/>
                <a:cs typeface="Times New Roman" panose="02020603050405020304" pitchFamily="18" charset="0"/>
              </a:rPr>
              <a:t>Manages storage location mapping, retrieval, and dispatch workflows, tracking movement of goods within and out of the warehouse.</a:t>
            </a:r>
          </a:p>
          <a:p>
            <a:pPr marL="0" indent="0" algn="l">
              <a:buNone/>
            </a:pPr>
            <a:r>
              <a:rPr lang="en-IN" sz="1500" b="0" i="1" dirty="0">
                <a:solidFill>
                  <a:srgbClr val="555555"/>
                </a:solidFill>
                <a:latin typeface="Times New Roman" panose="02020603050405020304" pitchFamily="18" charset="0"/>
                <a:cs typeface="Times New Roman" panose="02020603050405020304" pitchFamily="18" charset="0"/>
              </a:rPr>
              <a:t>Technologies: Node.js/Spring Boot services, relational schema for bins and locations.</a:t>
            </a:r>
          </a:p>
        </p:txBody>
      </p:sp>
    </p:spTree>
    <p:extLst>
      <p:ext uri="{BB962C8B-B14F-4D97-AF65-F5344CB8AC3E}">
        <p14:creationId xmlns:p14="http://schemas.microsoft.com/office/powerpoint/2010/main" val="3917782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E1EEFAC-0ECA-A18F-A4B4-033D3711121C}"/>
              </a:ext>
            </a:extLst>
          </p:cNvPr>
          <p:cNvSpPr>
            <a:spLocks noGrp="1"/>
          </p:cNvSpPr>
          <p:nvPr>
            <p:ph type="dt" sz="half" idx="10"/>
          </p:nvPr>
        </p:nvSpPr>
        <p:spPr/>
        <p:txBody>
          <a:bodyPr/>
          <a:lstStyle/>
          <a:p>
            <a:fld id="{2DD399FE-9025-4738-A866-75F92FF5600E}" type="datetime1">
              <a:rPr lang="en-US" smtClean="0"/>
              <a:t>9/23/2026</a:t>
            </a:fld>
            <a:endParaRPr lang="en-US"/>
          </a:p>
        </p:txBody>
      </p:sp>
      <p:sp>
        <p:nvSpPr>
          <p:cNvPr id="4" name="Footer Placeholder 3">
            <a:extLst>
              <a:ext uri="{FF2B5EF4-FFF2-40B4-BE49-F238E27FC236}">
                <a16:creationId xmlns:a16="http://schemas.microsoft.com/office/drawing/2014/main" id="{444FD4BC-7EB9-607E-38E4-8C64E6E11A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124C535C-1312-10F3-FBDA-B7001433D544}"/>
              </a:ext>
            </a:extLst>
          </p:cNvPr>
          <p:cNvSpPr>
            <a:spLocks noGrp="1"/>
          </p:cNvSpPr>
          <p:nvPr>
            <p:ph type="sldNum" sz="quarter" idx="12"/>
          </p:nvPr>
        </p:nvSpPr>
        <p:spPr/>
        <p:txBody>
          <a:bodyPr/>
          <a:lstStyle/>
          <a:p>
            <a:fld id="{E639234F-78F1-4984-9C4D-D4C7AB587871}" type="slidenum">
              <a:rPr lang="en-US" smtClean="0"/>
              <a:t>7</a:t>
            </a:fld>
            <a:endParaRPr lang="en-US"/>
          </a:p>
        </p:txBody>
      </p:sp>
      <p:sp>
        <p:nvSpPr>
          <p:cNvPr id="9" name="Rectangle: Rounded Corners 8"/>
          <p:cNvSpPr/>
          <p:nvPr/>
        </p:nvSpPr>
        <p:spPr>
          <a:xfrm>
            <a:off x="2991000" y="136525"/>
            <a:ext cx="621000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Module-wise Description (2/2)</a:t>
            </a:r>
          </a:p>
        </p:txBody>
      </p:sp>
      <p:sp>
        <p:nvSpPr>
          <p:cNvPr id="100" name="Circle 100"/>
          <p:cNvSpPr/>
          <p:nvPr/>
        </p:nvSpPr>
        <p:spPr>
          <a:xfrm>
            <a:off x="700000" y="2075000"/>
            <a:ext cx="700000" cy="700000"/>
          </a:xfrm>
          <a:prstGeom prst="ellipse">
            <a:avLst/>
          </a:prstGeom>
          <a:solidFill>
            <a:srgbClr val="C00000"/>
          </a:solidFill>
          <a:ln>
            <a:noFill/>
          </a:ln>
        </p:spPr>
        <p:txBody>
          <a:bodyPr anchor="ctr"/>
          <a:lstStyle/>
          <a:p>
            <a:pPr algn="ctr"/>
            <a:r>
              <a:rPr lang="en-US" sz="2000" b="1" dirty="0">
                <a:solidFill>
                  <a:schemeClr val="bg1"/>
                </a:solidFill>
                <a:latin typeface="Times New Roman" panose="02020603050405020304" pitchFamily="18" charset="0"/>
                <a:cs typeface="Times New Roman" panose="02020603050405020304" pitchFamily="18" charset="0"/>
              </a:rPr>
              <a:t>4</a:t>
            </a:r>
          </a:p>
        </p:txBody>
      </p:sp>
      <p:sp>
        <p:nvSpPr>
          <p:cNvPr id="110" name="TextBox 110"/>
          <p:cNvSpPr txBox="1"/>
          <p:nvPr/>
        </p:nvSpPr>
        <p:spPr>
          <a:xfrm>
            <a:off x="1650000" y="1340000"/>
            <a:ext cx="10000000" cy="2170000"/>
          </a:xfrm>
          <a:prstGeom prst="rect">
            <a:avLst/>
          </a:prstGeom>
          <a:noFill/>
        </p:spPr>
        <p:txBody>
          <a:bodyPr wrap="square" anchor="ctr">
            <a:normAutofit/>
          </a:bodyPr>
          <a:lstStyle/>
          <a:p>
            <a:pPr marL="0" indent="0" algn="l">
              <a:buNone/>
            </a:pPr>
            <a:r>
              <a:rPr lang="en-IN" sz="2200" b="1" i="0" dirty="0">
                <a:solidFill>
                  <a:srgbClr val="C00000"/>
                </a:solidFill>
                <a:latin typeface="Times New Roman" panose="02020603050405020304" pitchFamily="18" charset="0"/>
                <a:cs typeface="Times New Roman" panose="02020603050405020304" pitchFamily="18" charset="0"/>
              </a:rPr>
              <a:t>Alert &amp; Notification Module</a:t>
            </a:r>
          </a:p>
          <a:p>
            <a:pPr marL="0" indent="0" algn="l">
              <a:buNone/>
            </a:pPr>
            <a:r>
              <a:rPr lang="en-IN" sz="1700" b="0" i="0" dirty="0">
                <a:latin typeface="Times New Roman" panose="02020603050405020304" pitchFamily="18" charset="0"/>
                <a:cs typeface="Times New Roman" panose="02020603050405020304" pitchFamily="18" charset="0"/>
              </a:rPr>
              <a:t>Continuously monitors stock levels and automatically triggers low-stock, overstock, and expiry alerts to the concerned staff and managers.</a:t>
            </a:r>
          </a:p>
          <a:p>
            <a:pPr marL="0" indent="0" algn="l">
              <a:buNone/>
            </a:pPr>
            <a:r>
              <a:rPr lang="en-IN" sz="1500" b="0" i="1" dirty="0">
                <a:solidFill>
                  <a:srgbClr val="555555"/>
                </a:solidFill>
                <a:latin typeface="Times New Roman" panose="02020603050405020304" pitchFamily="18" charset="0"/>
                <a:cs typeface="Times New Roman" panose="02020603050405020304" pitchFamily="18" charset="0"/>
              </a:rPr>
              <a:t>Technologies: Scheduled backend jobs, email/push notification services, threshold rules engine.</a:t>
            </a:r>
          </a:p>
        </p:txBody>
      </p:sp>
      <p:sp>
        <p:nvSpPr>
          <p:cNvPr id="101" name="Circle 101"/>
          <p:cNvSpPr/>
          <p:nvPr/>
        </p:nvSpPr>
        <p:spPr>
          <a:xfrm>
            <a:off x="700000" y="4325000"/>
            <a:ext cx="700000" cy="700000"/>
          </a:xfrm>
          <a:prstGeom prst="ellipse">
            <a:avLst/>
          </a:prstGeom>
          <a:solidFill>
            <a:srgbClr val="C00000"/>
          </a:solidFill>
          <a:ln>
            <a:noFill/>
          </a:ln>
        </p:spPr>
        <p:txBody>
          <a:bodyPr anchor="ctr"/>
          <a:lstStyle/>
          <a:p>
            <a:pPr algn="ctr"/>
            <a:r>
              <a:rPr lang="en-US" sz="2000" b="1" dirty="0">
                <a:solidFill>
                  <a:schemeClr val="bg1"/>
                </a:solidFill>
                <a:latin typeface="Times New Roman" panose="02020603050405020304" pitchFamily="18" charset="0"/>
                <a:cs typeface="Times New Roman" panose="02020603050405020304" pitchFamily="18" charset="0"/>
              </a:rPr>
              <a:t>5</a:t>
            </a:r>
          </a:p>
        </p:txBody>
      </p:sp>
      <p:sp>
        <p:nvSpPr>
          <p:cNvPr id="111" name="TextBox 111"/>
          <p:cNvSpPr txBox="1"/>
          <p:nvPr/>
        </p:nvSpPr>
        <p:spPr>
          <a:xfrm>
            <a:off x="1650000" y="3590000"/>
            <a:ext cx="10000000" cy="2170000"/>
          </a:xfrm>
          <a:prstGeom prst="rect">
            <a:avLst/>
          </a:prstGeom>
          <a:noFill/>
        </p:spPr>
        <p:txBody>
          <a:bodyPr wrap="square" anchor="ctr">
            <a:normAutofit/>
          </a:bodyPr>
          <a:lstStyle/>
          <a:p>
            <a:pPr marL="0" indent="0" algn="l">
              <a:buNone/>
            </a:pPr>
            <a:r>
              <a:rPr lang="en-IN" sz="2200" b="1" i="0" dirty="0">
                <a:solidFill>
                  <a:srgbClr val="C00000"/>
                </a:solidFill>
                <a:latin typeface="Times New Roman" panose="02020603050405020304" pitchFamily="18" charset="0"/>
                <a:cs typeface="Times New Roman" panose="02020603050405020304" pitchFamily="18" charset="0"/>
              </a:rPr>
              <a:t>Analytics Dashboard Module</a:t>
            </a:r>
          </a:p>
          <a:p>
            <a:pPr marL="0" indent="0" algn="l">
              <a:buNone/>
            </a:pPr>
            <a:r>
              <a:rPr lang="en-IN" sz="1700" b="0" i="0" dirty="0">
                <a:latin typeface="Times New Roman" panose="02020603050405020304" pitchFamily="18" charset="0"/>
                <a:cs typeface="Times New Roman" panose="02020603050405020304" pitchFamily="18" charset="0"/>
              </a:rPr>
              <a:t>Presents real-time reports, stock trends, and turnover insights through interactive charts, helping managers make data-driven decisions.</a:t>
            </a:r>
          </a:p>
          <a:p>
            <a:pPr marL="0" indent="0" algn="l">
              <a:buNone/>
            </a:pPr>
            <a:r>
              <a:rPr lang="en-IN" sz="1500" b="0" i="1" dirty="0">
                <a:solidFill>
                  <a:srgbClr val="555555"/>
                </a:solidFill>
                <a:latin typeface="Times New Roman" panose="02020603050405020304" pitchFamily="18" charset="0"/>
                <a:cs typeface="Times New Roman" panose="02020603050405020304" pitchFamily="18" charset="0"/>
              </a:rPr>
              <a:t>Technologies: React charting libraries, aggregation queries on MySQL/MongoDB data.</a:t>
            </a:r>
          </a:p>
        </p:txBody>
      </p:sp>
    </p:spTree>
    <p:extLst>
      <p:ext uri="{BB962C8B-B14F-4D97-AF65-F5344CB8AC3E}">
        <p14:creationId xmlns:p14="http://schemas.microsoft.com/office/powerpoint/2010/main" val="3917782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18AF6-DD11-3448-1558-636A8CE6D62D}"/>
              </a:ext>
            </a:extLst>
          </p:cNvPr>
          <p:cNvSpPr>
            <a:spLocks noGrp="1"/>
          </p:cNvSpPr>
          <p:nvPr>
            <p:ph type="title"/>
          </p:nvPr>
        </p:nvSpPr>
        <p:spPr/>
        <p:txBody>
          <a:bodyPr/>
          <a:lstStyle/>
          <a:p>
            <a:endParaRPr lang="en-IN" dirty="0"/>
          </a:p>
        </p:txBody>
      </p:sp>
      <p:pic>
        <p:nvPicPr>
          <p:cNvPr id="10" name="Content Placeholder 9">
            <a:extLst>
              <a:ext uri="{FF2B5EF4-FFF2-40B4-BE49-F238E27FC236}">
                <a16:creationId xmlns:a16="http://schemas.microsoft.com/office/drawing/2014/main" id="{AE0DBA1C-EC18-1033-1624-9BE98D748D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8758" y="294968"/>
            <a:ext cx="11598442" cy="5881995"/>
          </a:xfrm>
          <a:prstGeom prst="rect">
            <a:avLst/>
          </a:prstGeom>
        </p:spPr>
      </p:pic>
      <p:sp>
        <p:nvSpPr>
          <p:cNvPr id="4" name="Date Placeholder 3">
            <a:extLst>
              <a:ext uri="{FF2B5EF4-FFF2-40B4-BE49-F238E27FC236}">
                <a16:creationId xmlns:a16="http://schemas.microsoft.com/office/drawing/2014/main" id="{27A8026E-03E5-7318-121C-0C005868C048}"/>
              </a:ext>
            </a:extLst>
          </p:cNvPr>
          <p:cNvSpPr>
            <a:spLocks noGrp="1"/>
          </p:cNvSpPr>
          <p:nvPr>
            <p:ph type="dt" sz="half" idx="10"/>
          </p:nvPr>
        </p:nvSpPr>
        <p:spPr/>
        <p:txBody>
          <a:bodyPr/>
          <a:lstStyle/>
          <a:p>
            <a:fld id="{081D6EA9-74F4-419E-9686-C1380811218E}" type="datetime1">
              <a:rPr lang="en-US" smtClean="0"/>
              <a:t>9/23/2026</a:t>
            </a:fld>
            <a:endParaRPr lang="en-US"/>
          </a:p>
        </p:txBody>
      </p:sp>
      <p:sp>
        <p:nvSpPr>
          <p:cNvPr id="5" name="Footer Placeholder 4">
            <a:extLst>
              <a:ext uri="{FF2B5EF4-FFF2-40B4-BE49-F238E27FC236}">
                <a16:creationId xmlns:a16="http://schemas.microsoft.com/office/drawing/2014/main" id="{85E78256-C167-6A08-64EA-217A48686685}"/>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8616EA05-CA93-81A1-5C55-A9E90661543F}"/>
              </a:ext>
            </a:extLst>
          </p:cNvPr>
          <p:cNvSpPr>
            <a:spLocks noGrp="1"/>
          </p:cNvSpPr>
          <p:nvPr>
            <p:ph type="sldNum" sz="quarter" idx="12"/>
          </p:nvPr>
        </p:nvSpPr>
        <p:spPr/>
        <p:txBody>
          <a:bodyPr/>
          <a:lstStyle/>
          <a:p>
            <a:fld id="{E639234F-78F1-4984-9C4D-D4C7AB587871}" type="slidenum">
              <a:rPr lang="en-US" smtClean="0"/>
              <a:t>8</a:t>
            </a:fld>
            <a:endParaRPr lang="en-US"/>
          </a:p>
        </p:txBody>
      </p:sp>
      <p:pic>
        <p:nvPicPr>
          <p:cNvPr id="8" name="Picture 7">
            <a:extLst>
              <a:ext uri="{FF2B5EF4-FFF2-40B4-BE49-F238E27FC236}">
                <a16:creationId xmlns:a16="http://schemas.microsoft.com/office/drawing/2014/main" id="{1EBF3D01-0F91-8D3E-1E05-CB768DB6B800}"/>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1386724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E1EEFAC-0ECA-A18F-A4B4-033D3711121C}"/>
              </a:ext>
            </a:extLst>
          </p:cNvPr>
          <p:cNvSpPr>
            <a:spLocks noGrp="1"/>
          </p:cNvSpPr>
          <p:nvPr>
            <p:ph type="dt" sz="half" idx="10"/>
          </p:nvPr>
        </p:nvSpPr>
        <p:spPr/>
        <p:txBody>
          <a:bodyPr/>
          <a:lstStyle/>
          <a:p>
            <a:fld id="{2DD399FE-9025-4738-A866-75F92FF5600E}" type="datetime1">
              <a:rPr lang="en-US" smtClean="0"/>
              <a:t>9/23/2026</a:t>
            </a:fld>
            <a:endParaRPr lang="en-US"/>
          </a:p>
        </p:txBody>
      </p:sp>
      <p:sp>
        <p:nvSpPr>
          <p:cNvPr id="4" name="Footer Placeholder 3">
            <a:extLst>
              <a:ext uri="{FF2B5EF4-FFF2-40B4-BE49-F238E27FC236}">
                <a16:creationId xmlns:a16="http://schemas.microsoft.com/office/drawing/2014/main" id="{444FD4BC-7EB9-607E-38E4-8C64E6E11A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124C535C-1312-10F3-FBDA-B7001433D544}"/>
              </a:ext>
            </a:extLst>
          </p:cNvPr>
          <p:cNvSpPr>
            <a:spLocks noGrp="1"/>
          </p:cNvSpPr>
          <p:nvPr>
            <p:ph type="sldNum" sz="quarter" idx="12"/>
          </p:nvPr>
        </p:nvSpPr>
        <p:spPr/>
        <p:txBody>
          <a:bodyPr/>
          <a:lstStyle/>
          <a:p>
            <a:fld id="{E639234F-78F1-4984-9C4D-D4C7AB587871}" type="slidenum">
              <a:rPr lang="en-US" smtClean="0"/>
              <a:t>9</a:t>
            </a:fld>
            <a:endParaRPr lang="en-US"/>
          </a:p>
        </p:txBody>
      </p:sp>
      <p:sp>
        <p:nvSpPr>
          <p:cNvPr id="9" name="Rectangle: Rounded Corners 8"/>
          <p:cNvSpPr/>
          <p:nvPr/>
        </p:nvSpPr>
        <p:spPr>
          <a:xfrm>
            <a:off x="4036000" y="136525"/>
            <a:ext cx="412000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Module Integration</a:t>
            </a:r>
          </a:p>
        </p:txBody>
      </p:sp>
      <p:sp>
        <p:nvSpPr>
          <p:cNvPr id="30" name="FlowBox 30"/>
          <p:cNvSpPr/>
          <p:nvPr/>
        </p:nvSpPr>
        <p:spPr>
          <a:xfrm>
            <a:off x="701000" y="2200000"/>
            <a:ext cx="1950000" cy="950000"/>
          </a:xfrm>
          <a:prstGeom prst="roundRect">
            <a:avLst/>
          </a:prstGeom>
          <a:solidFill>
            <a:srgbClr val="FBE4E4"/>
          </a:solidFill>
          <a:ln w="19050">
            <a:solidFill>
              <a:srgbClr val="C00000"/>
            </a:solidFill>
          </a:ln>
        </p:spPr>
        <p:txBody>
          <a:bodyPr wrap="square" rtlCol="0" anchor="ctr">
            <a:normAutofit/>
          </a:bodyPr>
          <a:lstStyle/>
          <a:p>
            <a:pPr algn="ctr"/>
            <a:r>
              <a:rPr lang="en-US" sz="1300" b="1" dirty="0">
                <a:solidFill>
                  <a:srgbClr val="C00000"/>
                </a:solidFill>
                <a:latin typeface="Times New Roman" panose="02020603050405020304" pitchFamily="18" charset="0"/>
                <a:cs typeface="Times New Roman" panose="02020603050405020304" pitchFamily="18" charset="0"/>
              </a:rPr>
              <a:t>User</a:t>
            </a:r>
          </a:p>
        </p:txBody>
      </p:sp>
      <p:sp>
        <p:nvSpPr>
          <p:cNvPr id="40" name="Arrow 40"/>
          <p:cNvSpPr/>
          <p:nvPr/>
        </p:nvSpPr>
        <p:spPr>
          <a:xfrm>
            <a:off x="2666000" y="2530000"/>
            <a:ext cx="230000" cy="290000"/>
          </a:xfrm>
          <a:prstGeom prst="rightArrow">
            <a:avLst/>
          </a:prstGeom>
          <a:solidFill>
            <a:srgbClr val="C00000"/>
          </a:solidFill>
          <a:ln>
            <a:noFill/>
          </a:ln>
        </p:spPr>
        <p:txBody>
          <a:bodyPr/>
          <a:lstStyle/>
          <a:p>
            <a:endParaRPr lang="en-US"/>
          </a:p>
        </p:txBody>
      </p:sp>
      <p:sp>
        <p:nvSpPr>
          <p:cNvPr id="31" name="FlowBox 31"/>
          <p:cNvSpPr/>
          <p:nvPr/>
        </p:nvSpPr>
        <p:spPr>
          <a:xfrm>
            <a:off x="2911000" y="2200000"/>
            <a:ext cx="1950000" cy="950000"/>
          </a:xfrm>
          <a:prstGeom prst="roundRect">
            <a:avLst/>
          </a:prstGeom>
          <a:solidFill>
            <a:srgbClr val="FBE4E4"/>
          </a:solidFill>
          <a:ln w="19050">
            <a:solidFill>
              <a:srgbClr val="C00000"/>
            </a:solidFill>
          </a:ln>
        </p:spPr>
        <p:txBody>
          <a:bodyPr wrap="square" rtlCol="0" anchor="ctr">
            <a:normAutofit/>
          </a:bodyPr>
          <a:lstStyle/>
          <a:p>
            <a:pPr algn="ctr"/>
            <a:r>
              <a:rPr lang="en-US" sz="1300" b="1" dirty="0">
                <a:solidFill>
                  <a:srgbClr val="C00000"/>
                </a:solidFill>
                <a:latin typeface="Times New Roman" panose="02020603050405020304" pitchFamily="18" charset="0"/>
                <a:cs typeface="Times New Roman" panose="02020603050405020304" pitchFamily="18" charset="0"/>
              </a:rPr>
              <a:t>Frontend (React)</a:t>
            </a:r>
          </a:p>
        </p:txBody>
      </p:sp>
      <p:sp>
        <p:nvSpPr>
          <p:cNvPr id="41" name="Arrow 41"/>
          <p:cNvSpPr/>
          <p:nvPr/>
        </p:nvSpPr>
        <p:spPr>
          <a:xfrm>
            <a:off x="4876000" y="2530000"/>
            <a:ext cx="230000" cy="290000"/>
          </a:xfrm>
          <a:prstGeom prst="rightArrow">
            <a:avLst/>
          </a:prstGeom>
          <a:solidFill>
            <a:srgbClr val="C00000"/>
          </a:solidFill>
          <a:ln>
            <a:noFill/>
          </a:ln>
        </p:spPr>
        <p:txBody>
          <a:bodyPr/>
          <a:lstStyle/>
          <a:p>
            <a:endParaRPr lang="en-US"/>
          </a:p>
        </p:txBody>
      </p:sp>
      <p:sp>
        <p:nvSpPr>
          <p:cNvPr id="32" name="FlowBox 32"/>
          <p:cNvSpPr/>
          <p:nvPr/>
        </p:nvSpPr>
        <p:spPr>
          <a:xfrm>
            <a:off x="5121000" y="2200000"/>
            <a:ext cx="1950000" cy="950000"/>
          </a:xfrm>
          <a:prstGeom prst="roundRect">
            <a:avLst/>
          </a:prstGeom>
          <a:solidFill>
            <a:srgbClr val="FBE4E4"/>
          </a:solidFill>
          <a:ln w="19050">
            <a:solidFill>
              <a:srgbClr val="C00000"/>
            </a:solidFill>
          </a:ln>
        </p:spPr>
        <p:txBody>
          <a:bodyPr wrap="square" rtlCol="0" anchor="ctr">
            <a:normAutofit/>
          </a:bodyPr>
          <a:lstStyle/>
          <a:p>
            <a:pPr algn="ctr"/>
            <a:r>
              <a:rPr lang="en-US" sz="1300" b="1" dirty="0">
                <a:solidFill>
                  <a:srgbClr val="C00000"/>
                </a:solidFill>
                <a:latin typeface="Times New Roman" panose="02020603050405020304" pitchFamily="18" charset="0"/>
                <a:cs typeface="Times New Roman" panose="02020603050405020304" pitchFamily="18" charset="0"/>
              </a:rPr>
              <a:t>Backend (Node.js/Spring Boot)</a:t>
            </a:r>
          </a:p>
        </p:txBody>
      </p:sp>
      <p:sp>
        <p:nvSpPr>
          <p:cNvPr id="42" name="Arrow 42"/>
          <p:cNvSpPr/>
          <p:nvPr/>
        </p:nvSpPr>
        <p:spPr>
          <a:xfrm>
            <a:off x="7086000" y="2530000"/>
            <a:ext cx="230000" cy="290000"/>
          </a:xfrm>
          <a:prstGeom prst="rightArrow">
            <a:avLst/>
          </a:prstGeom>
          <a:solidFill>
            <a:srgbClr val="C00000"/>
          </a:solidFill>
          <a:ln>
            <a:noFill/>
          </a:ln>
        </p:spPr>
        <p:txBody>
          <a:bodyPr/>
          <a:lstStyle/>
          <a:p>
            <a:endParaRPr lang="en-US"/>
          </a:p>
        </p:txBody>
      </p:sp>
      <p:sp>
        <p:nvSpPr>
          <p:cNvPr id="33" name="FlowBox 33"/>
          <p:cNvSpPr/>
          <p:nvPr/>
        </p:nvSpPr>
        <p:spPr>
          <a:xfrm>
            <a:off x="7331000" y="2200000"/>
            <a:ext cx="1950000" cy="950000"/>
          </a:xfrm>
          <a:prstGeom prst="roundRect">
            <a:avLst/>
          </a:prstGeom>
          <a:solidFill>
            <a:srgbClr val="FBE4E4"/>
          </a:solidFill>
          <a:ln w="19050">
            <a:solidFill>
              <a:srgbClr val="C00000"/>
            </a:solidFill>
          </a:ln>
        </p:spPr>
        <p:txBody>
          <a:bodyPr wrap="square" rtlCol="0" anchor="ctr">
            <a:normAutofit/>
          </a:bodyPr>
          <a:lstStyle/>
          <a:p>
            <a:pPr algn="ctr"/>
            <a:r>
              <a:rPr lang="en-US" sz="1300" b="1" dirty="0">
                <a:solidFill>
                  <a:srgbClr val="C00000"/>
                </a:solidFill>
                <a:latin typeface="Times New Roman" panose="02020603050405020304" pitchFamily="18" charset="0"/>
                <a:cs typeface="Times New Roman" panose="02020603050405020304" pitchFamily="18" charset="0"/>
              </a:rPr>
              <a:t>Database (MySQL/MongoDB)</a:t>
            </a:r>
          </a:p>
        </p:txBody>
      </p:sp>
      <p:sp>
        <p:nvSpPr>
          <p:cNvPr id="43" name="Arrow 43"/>
          <p:cNvSpPr/>
          <p:nvPr/>
        </p:nvSpPr>
        <p:spPr>
          <a:xfrm>
            <a:off x="9296000" y="2530000"/>
            <a:ext cx="230000" cy="290000"/>
          </a:xfrm>
          <a:prstGeom prst="rightArrow">
            <a:avLst/>
          </a:prstGeom>
          <a:solidFill>
            <a:srgbClr val="C00000"/>
          </a:solidFill>
          <a:ln>
            <a:noFill/>
          </a:ln>
        </p:spPr>
        <p:txBody>
          <a:bodyPr/>
          <a:lstStyle/>
          <a:p>
            <a:endParaRPr lang="en-US"/>
          </a:p>
        </p:txBody>
      </p:sp>
      <p:sp>
        <p:nvSpPr>
          <p:cNvPr id="34" name="FlowBox 34"/>
          <p:cNvSpPr/>
          <p:nvPr/>
        </p:nvSpPr>
        <p:spPr>
          <a:xfrm>
            <a:off x="9541000" y="2200000"/>
            <a:ext cx="1950000" cy="950000"/>
          </a:xfrm>
          <a:prstGeom prst="roundRect">
            <a:avLst/>
          </a:prstGeom>
          <a:solidFill>
            <a:srgbClr val="FBE4E4"/>
          </a:solidFill>
          <a:ln w="19050">
            <a:solidFill>
              <a:srgbClr val="C00000"/>
            </a:solidFill>
          </a:ln>
        </p:spPr>
        <p:txBody>
          <a:bodyPr wrap="square" rtlCol="0" anchor="ctr">
            <a:normAutofit/>
          </a:bodyPr>
          <a:lstStyle/>
          <a:p>
            <a:pPr algn="ctr"/>
            <a:r>
              <a:rPr lang="en-US" sz="1300" b="1" dirty="0">
                <a:solidFill>
                  <a:srgbClr val="C00000"/>
                </a:solidFill>
                <a:latin typeface="Times New Roman" panose="02020603050405020304" pitchFamily="18" charset="0"/>
                <a:cs typeface="Times New Roman" panose="02020603050405020304" pitchFamily="18" charset="0"/>
              </a:rPr>
              <a:t>Dashboard</a:t>
            </a:r>
          </a:p>
        </p:txBody>
      </p:sp>
      <p:sp>
        <p:nvSpPr>
          <p:cNvPr id="60" name="TextBox 59"/>
          <p:cNvSpPr txBox="1"/>
          <p:nvPr/>
        </p:nvSpPr>
        <p:spPr>
          <a:xfrm>
            <a:off x="471948" y="3450000"/>
            <a:ext cx="11248103" cy="2900000"/>
          </a:xfrm>
          <a:prstGeom prst="rect">
            <a:avLst/>
          </a:prstGeom>
          <a:noFill/>
        </p:spPr>
        <p:txBody>
          <a:bodyPr wrap="square">
            <a:normAutofit/>
          </a:bodyPr>
          <a:lstStyle/>
          <a:p>
            <a:pPr algn="just">
              <a:buNone/>
            </a:pPr>
            <a:r>
              <a:rPr lang="en-IN" sz="1800" dirty="0">
                <a:latin typeface="Times New Roman" panose="02020603050405020304" pitchFamily="18" charset="0"/>
                <a:cs typeface="Times New Roman" panose="02020603050405020304" pitchFamily="18" charset="0"/>
              </a:rPr>
              <a:t>Integration Flow: The user interacts with the React frontend, which communicates with the Node.js/Spring Boot backend through secure REST APIs (JSON over HTTPS). The backend validates requests, applies business rules, and performs CRUD operations on the MySQL/MongoDB database. Processed data is returned to the frontend and rendered on the analytics dashboard in real time.</a:t>
            </a:r>
          </a:p>
          <a:p>
            <a:pPr algn="just">
              <a:buNone/>
            </a:pPr>
            <a:r>
              <a:rPr lang="en-IN" sz="1800" dirty="0">
                <a:latin typeface="Times New Roman" panose="02020603050405020304" pitchFamily="18" charset="0"/>
                <a:cs typeface="Times New Roman" panose="02020603050405020304" pitchFamily="18" charset="0"/>
              </a:rPr>
              <a:t>All modules (User Management, Inventory, Warehouse Operations, Alerts, and Analytics) expose their own API endpoints but share a common authentication layer and database, ensuring consistent, synchronized data across the platform.</a:t>
            </a:r>
          </a:p>
        </p:txBody>
      </p:sp>
    </p:spTree>
    <p:extLst>
      <p:ext uri="{BB962C8B-B14F-4D97-AF65-F5344CB8AC3E}">
        <p14:creationId xmlns:p14="http://schemas.microsoft.com/office/powerpoint/2010/main" val="3917782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E1EEFAC-0ECA-A18F-A4B4-033D3711121C}"/>
              </a:ext>
            </a:extLst>
          </p:cNvPr>
          <p:cNvSpPr>
            <a:spLocks noGrp="1"/>
          </p:cNvSpPr>
          <p:nvPr>
            <p:ph type="dt" sz="half" idx="10"/>
          </p:nvPr>
        </p:nvSpPr>
        <p:spPr/>
        <p:txBody>
          <a:bodyPr/>
          <a:lstStyle/>
          <a:p>
            <a:fld id="{2DD399FE-9025-4738-A866-75F92FF5600E}" type="datetime1">
              <a:rPr lang="en-US" smtClean="0"/>
              <a:t>9/23/2026</a:t>
            </a:fld>
            <a:endParaRPr lang="en-US"/>
          </a:p>
        </p:txBody>
      </p:sp>
      <p:sp>
        <p:nvSpPr>
          <p:cNvPr id="4" name="Footer Placeholder 3">
            <a:extLst>
              <a:ext uri="{FF2B5EF4-FFF2-40B4-BE49-F238E27FC236}">
                <a16:creationId xmlns:a16="http://schemas.microsoft.com/office/drawing/2014/main" id="{444FD4BC-7EB9-607E-38E4-8C64E6E11A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124C535C-1312-10F3-FBDA-B7001433D544}"/>
              </a:ext>
            </a:extLst>
          </p:cNvPr>
          <p:cNvSpPr>
            <a:spLocks noGrp="1"/>
          </p:cNvSpPr>
          <p:nvPr>
            <p:ph type="sldNum" sz="quarter" idx="12"/>
          </p:nvPr>
        </p:nvSpPr>
        <p:spPr/>
        <p:txBody>
          <a:bodyPr/>
          <a:lstStyle/>
          <a:p>
            <a:fld id="{E639234F-78F1-4984-9C4D-D4C7AB587871}" type="slidenum">
              <a:rPr lang="en-US" smtClean="0"/>
              <a:t>10</a:t>
            </a:fld>
            <a:endParaRPr lang="en-US"/>
          </a:p>
        </p:txBody>
      </p:sp>
      <p:sp>
        <p:nvSpPr>
          <p:cNvPr id="9" name="Rectangle: Rounded Corners 8"/>
          <p:cNvSpPr/>
          <p:nvPr/>
        </p:nvSpPr>
        <p:spPr>
          <a:xfrm>
            <a:off x="3086000" y="136525"/>
            <a:ext cx="602000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Module Integration</a:t>
            </a:r>
          </a:p>
        </p:txBody>
      </p:sp>
      <p:sp>
        <p:nvSpPr>
          <p:cNvPr id="30" name="FlowBox 30"/>
          <p:cNvSpPr/>
          <p:nvPr/>
        </p:nvSpPr>
        <p:spPr>
          <a:xfrm>
            <a:off x="701000" y="1400000"/>
            <a:ext cx="1950000" cy="950000"/>
          </a:xfrm>
          <a:prstGeom prst="roundRect">
            <a:avLst/>
          </a:prstGeom>
          <a:solidFill>
            <a:srgbClr val="FBE4E4"/>
          </a:solidFill>
          <a:ln w="19050">
            <a:solidFill>
              <a:srgbClr val="C00000"/>
            </a:solidFill>
          </a:ln>
        </p:spPr>
        <p:txBody>
          <a:bodyPr wrap="square" rtlCol="0" anchor="ctr">
            <a:normAutofit/>
          </a:bodyPr>
          <a:lstStyle/>
          <a:p>
            <a:pPr algn="ctr"/>
            <a:r>
              <a:rPr lang="en-US" sz="1400" b="1" dirty="0">
                <a:solidFill>
                  <a:srgbClr val="C00000"/>
                </a:solidFill>
                <a:latin typeface="Times New Roman" panose="02020603050405020304" pitchFamily="18" charset="0"/>
                <a:cs typeface="Times New Roman" panose="02020603050405020304" pitchFamily="18" charset="0"/>
              </a:rPr>
              <a:t>1. Login</a:t>
            </a:r>
          </a:p>
        </p:txBody>
      </p:sp>
      <p:sp>
        <p:nvSpPr>
          <p:cNvPr id="40" name="Arrow 40"/>
          <p:cNvSpPr/>
          <p:nvPr/>
        </p:nvSpPr>
        <p:spPr>
          <a:xfrm>
            <a:off x="2666000" y="1730000"/>
            <a:ext cx="230000" cy="290000"/>
          </a:xfrm>
          <a:prstGeom prst="rightArrow">
            <a:avLst/>
          </a:prstGeom>
          <a:solidFill>
            <a:srgbClr val="C00000"/>
          </a:solidFill>
          <a:ln>
            <a:noFill/>
          </a:ln>
        </p:spPr>
        <p:txBody>
          <a:bodyPr/>
          <a:lstStyle/>
          <a:p>
            <a:endParaRPr lang="en-US"/>
          </a:p>
        </p:txBody>
      </p:sp>
      <p:sp>
        <p:nvSpPr>
          <p:cNvPr id="31" name="FlowBox 31"/>
          <p:cNvSpPr/>
          <p:nvPr/>
        </p:nvSpPr>
        <p:spPr>
          <a:xfrm>
            <a:off x="2911000" y="1400000"/>
            <a:ext cx="1950000" cy="950000"/>
          </a:xfrm>
          <a:prstGeom prst="roundRect">
            <a:avLst/>
          </a:prstGeom>
          <a:solidFill>
            <a:srgbClr val="FBE4E4"/>
          </a:solidFill>
          <a:ln w="19050">
            <a:solidFill>
              <a:srgbClr val="C00000"/>
            </a:solidFill>
          </a:ln>
        </p:spPr>
        <p:txBody>
          <a:bodyPr wrap="square" rtlCol="0" anchor="ctr">
            <a:normAutofit/>
          </a:bodyPr>
          <a:lstStyle/>
          <a:p>
            <a:pPr algn="ctr"/>
            <a:r>
              <a:rPr lang="en-US" sz="1400" b="1" dirty="0">
                <a:solidFill>
                  <a:srgbClr val="C00000"/>
                </a:solidFill>
                <a:latin typeface="Times New Roman" panose="02020603050405020304" pitchFamily="18" charset="0"/>
                <a:cs typeface="Times New Roman" panose="02020603050405020304" pitchFamily="18" charset="0"/>
              </a:rPr>
              <a:t>2. Add Inventory</a:t>
            </a:r>
          </a:p>
        </p:txBody>
      </p:sp>
      <p:sp>
        <p:nvSpPr>
          <p:cNvPr id="41" name="Arrow 41"/>
          <p:cNvSpPr/>
          <p:nvPr/>
        </p:nvSpPr>
        <p:spPr>
          <a:xfrm>
            <a:off x="4876000" y="1730000"/>
            <a:ext cx="230000" cy="290000"/>
          </a:xfrm>
          <a:prstGeom prst="rightArrow">
            <a:avLst/>
          </a:prstGeom>
          <a:solidFill>
            <a:srgbClr val="C00000"/>
          </a:solidFill>
          <a:ln>
            <a:noFill/>
          </a:ln>
        </p:spPr>
        <p:txBody>
          <a:bodyPr/>
          <a:lstStyle/>
          <a:p>
            <a:endParaRPr lang="en-US"/>
          </a:p>
        </p:txBody>
      </p:sp>
      <p:sp>
        <p:nvSpPr>
          <p:cNvPr id="32" name="FlowBox 32"/>
          <p:cNvSpPr/>
          <p:nvPr/>
        </p:nvSpPr>
        <p:spPr>
          <a:xfrm>
            <a:off x="5121000" y="1400000"/>
            <a:ext cx="1950000" cy="950000"/>
          </a:xfrm>
          <a:prstGeom prst="roundRect">
            <a:avLst/>
          </a:prstGeom>
          <a:solidFill>
            <a:srgbClr val="FBE4E4"/>
          </a:solidFill>
          <a:ln w="19050">
            <a:solidFill>
              <a:srgbClr val="C00000"/>
            </a:solidFill>
          </a:ln>
        </p:spPr>
        <p:txBody>
          <a:bodyPr wrap="square" rtlCol="0" anchor="ctr">
            <a:normAutofit/>
          </a:bodyPr>
          <a:lstStyle/>
          <a:p>
            <a:pPr algn="ctr"/>
            <a:r>
              <a:rPr lang="en-US" sz="1400" b="1" dirty="0">
                <a:solidFill>
                  <a:srgbClr val="C00000"/>
                </a:solidFill>
                <a:latin typeface="Times New Roman" panose="02020603050405020304" pitchFamily="18" charset="0"/>
                <a:cs typeface="Times New Roman" panose="02020603050405020304" pitchFamily="18" charset="0"/>
              </a:rPr>
              <a:t>3. Track Stock</a:t>
            </a:r>
          </a:p>
        </p:txBody>
      </p:sp>
      <p:sp>
        <p:nvSpPr>
          <p:cNvPr id="42" name="Arrow 42"/>
          <p:cNvSpPr/>
          <p:nvPr/>
        </p:nvSpPr>
        <p:spPr>
          <a:xfrm>
            <a:off x="7086000" y="1730000"/>
            <a:ext cx="230000" cy="290000"/>
          </a:xfrm>
          <a:prstGeom prst="rightArrow">
            <a:avLst/>
          </a:prstGeom>
          <a:solidFill>
            <a:srgbClr val="C00000"/>
          </a:solidFill>
          <a:ln>
            <a:noFill/>
          </a:ln>
        </p:spPr>
        <p:txBody>
          <a:bodyPr/>
          <a:lstStyle/>
          <a:p>
            <a:endParaRPr lang="en-US"/>
          </a:p>
        </p:txBody>
      </p:sp>
      <p:sp>
        <p:nvSpPr>
          <p:cNvPr id="33" name="FlowBox 33"/>
          <p:cNvSpPr/>
          <p:nvPr/>
        </p:nvSpPr>
        <p:spPr>
          <a:xfrm>
            <a:off x="7331000" y="1400000"/>
            <a:ext cx="1950000" cy="950000"/>
          </a:xfrm>
          <a:prstGeom prst="roundRect">
            <a:avLst/>
          </a:prstGeom>
          <a:solidFill>
            <a:srgbClr val="FBE4E4"/>
          </a:solidFill>
          <a:ln w="19050">
            <a:solidFill>
              <a:srgbClr val="C00000"/>
            </a:solidFill>
          </a:ln>
        </p:spPr>
        <p:txBody>
          <a:bodyPr wrap="square" rtlCol="0" anchor="ctr">
            <a:normAutofit/>
          </a:bodyPr>
          <a:lstStyle/>
          <a:p>
            <a:pPr algn="ctr"/>
            <a:r>
              <a:rPr lang="en-US" sz="1400" b="1" dirty="0">
                <a:solidFill>
                  <a:srgbClr val="C00000"/>
                </a:solidFill>
                <a:latin typeface="Times New Roman" panose="02020603050405020304" pitchFamily="18" charset="0"/>
                <a:cs typeface="Times New Roman" panose="02020603050405020304" pitchFamily="18" charset="0"/>
              </a:rPr>
              <a:t>4. Generate Alerts</a:t>
            </a:r>
          </a:p>
        </p:txBody>
      </p:sp>
      <p:sp>
        <p:nvSpPr>
          <p:cNvPr id="43" name="Arrow 43"/>
          <p:cNvSpPr/>
          <p:nvPr/>
        </p:nvSpPr>
        <p:spPr>
          <a:xfrm>
            <a:off x="9296000" y="1730000"/>
            <a:ext cx="230000" cy="290000"/>
          </a:xfrm>
          <a:prstGeom prst="rightArrow">
            <a:avLst/>
          </a:prstGeom>
          <a:solidFill>
            <a:srgbClr val="C00000"/>
          </a:solidFill>
          <a:ln>
            <a:noFill/>
          </a:ln>
        </p:spPr>
        <p:txBody>
          <a:bodyPr/>
          <a:lstStyle/>
          <a:p>
            <a:endParaRPr lang="en-US"/>
          </a:p>
        </p:txBody>
      </p:sp>
      <p:sp>
        <p:nvSpPr>
          <p:cNvPr id="34" name="FlowBox 34"/>
          <p:cNvSpPr/>
          <p:nvPr/>
        </p:nvSpPr>
        <p:spPr>
          <a:xfrm>
            <a:off x="9541000" y="1400000"/>
            <a:ext cx="1950000" cy="950000"/>
          </a:xfrm>
          <a:prstGeom prst="roundRect">
            <a:avLst/>
          </a:prstGeom>
          <a:solidFill>
            <a:srgbClr val="FBE4E4"/>
          </a:solidFill>
          <a:ln w="19050">
            <a:solidFill>
              <a:srgbClr val="C00000"/>
            </a:solidFill>
          </a:ln>
        </p:spPr>
        <p:txBody>
          <a:bodyPr wrap="square" rtlCol="0" anchor="ctr">
            <a:normAutofit/>
          </a:bodyPr>
          <a:lstStyle/>
          <a:p>
            <a:pPr algn="ctr"/>
            <a:r>
              <a:rPr lang="en-US" sz="1400" b="1" dirty="0">
                <a:solidFill>
                  <a:srgbClr val="C00000"/>
                </a:solidFill>
                <a:latin typeface="Times New Roman" panose="02020603050405020304" pitchFamily="18" charset="0"/>
                <a:cs typeface="Times New Roman" panose="02020603050405020304" pitchFamily="18" charset="0"/>
              </a:rPr>
              <a:t>5. View Dashboard</a:t>
            </a:r>
          </a:p>
        </p:txBody>
      </p:sp>
      <p:sp>
        <p:nvSpPr>
          <p:cNvPr id="200" name="TextBox 199"/>
          <p:cNvSpPr txBox="1"/>
          <p:nvPr/>
        </p:nvSpPr>
        <p:spPr>
          <a:xfrm>
            <a:off x="471948" y="2650000"/>
            <a:ext cx="11248103" cy="2100000"/>
          </a:xfrm>
          <a:prstGeom prst="rect">
            <a:avLst/>
          </a:prstGeom>
          <a:noFill/>
        </p:spPr>
        <p:txBody>
          <a:bodyPr wrap="square">
            <a:normAutofit/>
          </a:bodyPr>
          <a:lstStyle/>
          <a:p>
            <a:pPr marL="342900" indent="-342900" algn="l">
              <a:buFont typeface="Arial" pitchFamily="34" charset="0"/>
              <a:buChar char="•"/>
            </a:pPr>
            <a:r>
              <a:rPr lang="en-IN" sz="2000" b="1" dirty="0">
                <a:latin typeface="Times New Roman" panose="02020603050405020304" pitchFamily="18" charset="0"/>
                <a:cs typeface="Times New Roman" panose="02020603050405020304" pitchFamily="18" charset="0"/>
              </a:rPr>
              <a:t>Login:</a:t>
            </a:r>
            <a:r>
              <a:rPr lang="en-IN" sz="2000" dirty="0">
                <a:latin typeface="Times New Roman" panose="02020603050405020304" pitchFamily="18" charset="0"/>
                <a:cs typeface="Times New Roman" panose="02020603050405020304" pitchFamily="18" charset="0"/>
              </a:rPr>
              <a:t> Demonstrate secure sign-in with role-based access for admin and staff accounts.</a:t>
            </a:r>
          </a:p>
          <a:p>
            <a:pPr marL="342900" indent="-342900" algn="l">
              <a:buFont typeface="Arial" pitchFamily="34" charset="0"/>
              <a:buChar char="•"/>
            </a:pPr>
            <a:r>
              <a:rPr lang="en-IN" sz="2000" b="1" dirty="0">
                <a:latin typeface="Times New Roman" panose="02020603050405020304" pitchFamily="18" charset="0"/>
                <a:cs typeface="Times New Roman" panose="02020603050405020304" pitchFamily="18" charset="0"/>
              </a:rPr>
              <a:t>Add Inventory</a:t>
            </a:r>
            <a:r>
              <a:rPr lang="en-IN" sz="2000" dirty="0">
                <a:latin typeface="Times New Roman" panose="02020603050405020304" pitchFamily="18" charset="0"/>
                <a:cs typeface="Times New Roman" panose="02020603050405020304" pitchFamily="18" charset="0"/>
              </a:rPr>
              <a:t>: Show adding a new stock item with SKU, quantity, and warehouse location.</a:t>
            </a:r>
          </a:p>
          <a:p>
            <a:pPr marL="342900" indent="-342900" algn="l">
              <a:buFont typeface="Arial" pitchFamily="34" charset="0"/>
              <a:buChar char="•"/>
            </a:pPr>
            <a:r>
              <a:rPr lang="en-IN" sz="2000" b="1" dirty="0">
                <a:latin typeface="Times New Roman" panose="02020603050405020304" pitchFamily="18" charset="0"/>
                <a:cs typeface="Times New Roman" panose="02020603050405020304" pitchFamily="18" charset="0"/>
              </a:rPr>
              <a:t>Track Stock: </a:t>
            </a:r>
            <a:r>
              <a:rPr lang="en-IN" sz="2000" dirty="0">
                <a:latin typeface="Times New Roman" panose="02020603050405020304" pitchFamily="18" charset="0"/>
                <a:cs typeface="Times New Roman" panose="02020603050405020304" pitchFamily="18" charset="0"/>
              </a:rPr>
              <a:t>Display real-time stock levels updating across the inventory dashboard.</a:t>
            </a:r>
          </a:p>
          <a:p>
            <a:pPr marL="342900" indent="-342900" algn="l">
              <a:buFont typeface="Arial" pitchFamily="34" charset="0"/>
              <a:buChar char="•"/>
            </a:pPr>
            <a:r>
              <a:rPr lang="en-IN" sz="2000" b="1" dirty="0">
                <a:latin typeface="Times New Roman" panose="02020603050405020304" pitchFamily="18" charset="0"/>
                <a:cs typeface="Times New Roman" panose="02020603050405020304" pitchFamily="18" charset="0"/>
              </a:rPr>
              <a:t>Generate Alerts</a:t>
            </a:r>
            <a:r>
              <a:rPr lang="en-IN" sz="2000" dirty="0">
                <a:latin typeface="Times New Roman" panose="02020603050405020304" pitchFamily="18" charset="0"/>
                <a:cs typeface="Times New Roman" panose="02020603050405020304" pitchFamily="18" charset="0"/>
              </a:rPr>
              <a:t>: Trigger a low-stock scenario to show an automated notification being raised.</a:t>
            </a:r>
          </a:p>
          <a:p>
            <a:pPr marL="342900" indent="-342900" algn="l">
              <a:buFont typeface="Arial" pitchFamily="34" charset="0"/>
              <a:buChar char="•"/>
            </a:pPr>
            <a:r>
              <a:rPr lang="en-IN" sz="2000" b="1" dirty="0">
                <a:latin typeface="Times New Roman" panose="02020603050405020304" pitchFamily="18" charset="0"/>
                <a:cs typeface="Times New Roman" panose="02020603050405020304" pitchFamily="18" charset="0"/>
              </a:rPr>
              <a:t>View Dashboard</a:t>
            </a:r>
            <a:r>
              <a:rPr lang="en-IN" sz="2000" dirty="0">
                <a:latin typeface="Times New Roman" panose="02020603050405020304" pitchFamily="18" charset="0"/>
                <a:cs typeface="Times New Roman" panose="02020603050405020304" pitchFamily="18" charset="0"/>
              </a:rPr>
              <a:t>: Walk through analytics charts summarising stock trends and warehouse activity.</a:t>
            </a:r>
          </a:p>
        </p:txBody>
      </p:sp>
      <p:sp>
        <p:nvSpPr>
          <p:cNvPr id="250" name="TextBox 249"/>
          <p:cNvSpPr txBox="1"/>
          <p:nvPr/>
        </p:nvSpPr>
        <p:spPr>
          <a:xfrm>
            <a:off x="471948" y="4900000"/>
            <a:ext cx="11248103" cy="900000"/>
          </a:xfrm>
          <a:prstGeom prst="rect">
            <a:avLst/>
          </a:prstGeom>
          <a:noFill/>
        </p:spPr>
        <p:txBody>
          <a:bodyPr wrap="square">
            <a:normAutofit/>
          </a:bodyPr>
          <a:lstStyle/>
          <a:p>
            <a:pPr algn="just">
              <a:buNone/>
            </a:pPr>
            <a:r>
              <a:rPr lang="en-IN" sz="1800" dirty="0">
                <a:latin typeface="Times New Roman" panose="02020603050405020304" pitchFamily="18" charset="0"/>
                <a:cs typeface="Times New Roman" panose="02020603050405020304" pitchFamily="18" charset="0"/>
              </a:rPr>
              <a:t>Expected Output Screens: Login screen, Inventory list/grid view, Add/Edit stock form, Alerts and notifications panel, and an interactive Analytics Dashboard with charts for stock levels, category-wise distribution, and recent activity.</a:t>
            </a:r>
          </a:p>
        </p:txBody>
      </p:sp>
    </p:spTree>
    <p:extLst>
      <p:ext uri="{BB962C8B-B14F-4D97-AF65-F5344CB8AC3E}">
        <p14:creationId xmlns:p14="http://schemas.microsoft.com/office/powerpoint/2010/main" val="3917782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E1EEFAC-0ECA-A18F-A4B4-033D3711121C}"/>
              </a:ext>
            </a:extLst>
          </p:cNvPr>
          <p:cNvSpPr>
            <a:spLocks noGrp="1"/>
          </p:cNvSpPr>
          <p:nvPr>
            <p:ph type="dt" sz="half" idx="10"/>
          </p:nvPr>
        </p:nvSpPr>
        <p:spPr/>
        <p:txBody>
          <a:bodyPr/>
          <a:lstStyle/>
          <a:p>
            <a:fld id="{2DD399FE-9025-4738-A866-75F92FF5600E}" type="datetime1">
              <a:rPr lang="en-US" smtClean="0"/>
              <a:t>9/23/2026</a:t>
            </a:fld>
            <a:endParaRPr lang="en-US"/>
          </a:p>
        </p:txBody>
      </p:sp>
      <p:sp>
        <p:nvSpPr>
          <p:cNvPr id="4" name="Footer Placeholder 3">
            <a:extLst>
              <a:ext uri="{FF2B5EF4-FFF2-40B4-BE49-F238E27FC236}">
                <a16:creationId xmlns:a16="http://schemas.microsoft.com/office/drawing/2014/main" id="{444FD4BC-7EB9-607E-38E4-8C64E6E11A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124C535C-1312-10F3-FBDA-B7001433D544}"/>
              </a:ext>
            </a:extLst>
          </p:cNvPr>
          <p:cNvSpPr>
            <a:spLocks noGrp="1"/>
          </p:cNvSpPr>
          <p:nvPr>
            <p:ph type="sldNum" sz="quarter" idx="12"/>
          </p:nvPr>
        </p:nvSpPr>
        <p:spPr/>
        <p:txBody>
          <a:bodyPr/>
          <a:lstStyle/>
          <a:p>
            <a:fld id="{E639234F-78F1-4984-9C4D-D4C7AB587871}" type="slidenum">
              <a:rPr lang="en-US" smtClean="0"/>
              <a:t>11</a:t>
            </a:fld>
            <a:endParaRPr lang="en-US"/>
          </a:p>
        </p:txBody>
      </p:sp>
      <p:sp>
        <p:nvSpPr>
          <p:cNvPr id="9" name="Rectangle: Rounded Corners 8"/>
          <p:cNvSpPr/>
          <p:nvPr/>
        </p:nvSpPr>
        <p:spPr>
          <a:xfrm>
            <a:off x="2896000" y="136525"/>
            <a:ext cx="640000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Individual Contribution</a:t>
            </a:r>
          </a:p>
        </p:txBody>
      </p:sp>
      <p:graphicFrame>
        <p:nvGraphicFramePr>
          <p:cNvPr id="300" name="Table 300"/>
          <p:cNvGraphicFramePr>
            <a:graphicFrameLocks noGrp="1"/>
          </p:cNvGraphicFramePr>
          <p:nvPr>
            <p:extLst>
              <p:ext uri="{D42A27DB-BD31-4B8C-83A1-F6EECF244321}">
                <p14:modId xmlns:p14="http://schemas.microsoft.com/office/powerpoint/2010/main" val="4108863057"/>
              </p:ext>
            </p:extLst>
          </p:nvPr>
        </p:nvGraphicFramePr>
        <p:xfrm>
          <a:off x="471948" y="1050000"/>
          <a:ext cx="11248103" cy="5015251"/>
        </p:xfrm>
        <a:graphic>
          <a:graphicData uri="http://schemas.openxmlformats.org/drawingml/2006/table">
            <a:tbl>
              <a:tblPr firstRow="1" bandRow="1">
                <a:tableStyleId>{5940675A-B579-460E-94D1-54222C63F5DA}</a:tableStyleId>
              </a:tblPr>
              <a:tblGrid>
                <a:gridCol w="31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5748103">
                  <a:extLst>
                    <a:ext uri="{9D8B030D-6E8A-4147-A177-3AD203B41FA5}">
                      <a16:colId xmlns:a16="http://schemas.microsoft.com/office/drawing/2014/main" val="20002"/>
                    </a:ext>
                  </a:extLst>
                </a:gridCol>
              </a:tblGrid>
              <a:tr h="650000">
                <a:tc>
                  <a:txBody>
                    <a:bodyPr/>
                    <a:lstStyle/>
                    <a:p>
                      <a:pPr algn="l"/>
                      <a:r>
                        <a:rPr lang="en-IN" sz="1500" b="1" dirty="0">
                          <a:solidFill>
                            <a:srgbClr val="FFFFFF"/>
                          </a:solidFill>
                          <a:latin typeface="Times New Roman" panose="02020603050405020304" pitchFamily="18" charset="0"/>
                          <a:cs typeface="Times New Roman" panose="02020603050405020304" pitchFamily="18" charset="0"/>
                        </a:rPr>
                        <a:t>Student</a:t>
                      </a:r>
                    </a:p>
                  </a:txBody>
                  <a:tcPr anchor="ctr">
                    <a:solidFill>
                      <a:srgbClr val="C00000"/>
                    </a:solidFill>
                  </a:tcPr>
                </a:tc>
                <a:tc>
                  <a:txBody>
                    <a:bodyPr/>
                    <a:lstStyle/>
                    <a:p>
                      <a:pPr algn="l"/>
                      <a:r>
                        <a:rPr lang="en-IN" sz="1500" b="1" dirty="0">
                          <a:solidFill>
                            <a:srgbClr val="FFFFFF"/>
                          </a:solidFill>
                          <a:latin typeface="Times New Roman" panose="02020603050405020304" pitchFamily="18" charset="0"/>
                          <a:cs typeface="Times New Roman" panose="02020603050405020304" pitchFamily="18" charset="0"/>
                        </a:rPr>
                        <a:t>Focus Area</a:t>
                      </a:r>
                    </a:p>
                  </a:txBody>
                  <a:tcPr anchor="ctr">
                    <a:solidFill>
                      <a:srgbClr val="C00000"/>
                    </a:solidFill>
                  </a:tcPr>
                </a:tc>
                <a:tc>
                  <a:txBody>
                    <a:bodyPr/>
                    <a:lstStyle/>
                    <a:p>
                      <a:pPr algn="l"/>
                      <a:r>
                        <a:rPr lang="en-IN" sz="1500" b="1" dirty="0">
                          <a:solidFill>
                            <a:srgbClr val="FFFFFF"/>
                          </a:solidFill>
                          <a:latin typeface="Times New Roman" panose="02020603050405020304" pitchFamily="18" charset="0"/>
                          <a:cs typeface="Times New Roman" panose="02020603050405020304" pitchFamily="18" charset="0"/>
                        </a:rPr>
                        <a:t>Key Contribution</a:t>
                      </a:r>
                    </a:p>
                  </a:txBody>
                  <a:tcPr anchor="ctr">
                    <a:solidFill>
                      <a:srgbClr val="C00000"/>
                    </a:solidFill>
                  </a:tcPr>
                </a:tc>
                <a:extLst>
                  <a:ext uri="{0D108BD9-81ED-4DB2-BD59-A6C34878D82A}">
                    <a16:rowId xmlns:a16="http://schemas.microsoft.com/office/drawing/2014/main" val="10000"/>
                  </a:ext>
                </a:extLst>
              </a:tr>
              <a:tr h="1072697">
                <a:tc>
                  <a:txBody>
                    <a:bodyPr/>
                    <a:lstStyle/>
                    <a:p>
                      <a:pPr algn="l"/>
                      <a:r>
                        <a:rPr lang="en-US" sz="1500" b="0" dirty="0">
                          <a:solidFill>
                            <a:srgbClr val="000000"/>
                          </a:solidFill>
                          <a:latin typeface="Times New Roman" panose="02020603050405020304" pitchFamily="18" charset="0"/>
                          <a:cs typeface="Times New Roman" panose="02020603050405020304" pitchFamily="18" charset="0"/>
                        </a:rPr>
                        <a:t>Aashna Begum – (2</a:t>
                      </a:r>
                      <a:r>
                        <a:rPr lang="en-IN" sz="1500" b="0" dirty="0">
                          <a:solidFill>
                            <a:srgbClr val="000000"/>
                          </a:solidFill>
                          <a:latin typeface="Times New Roman" panose="02020603050405020304" pitchFamily="18" charset="0"/>
                          <a:cs typeface="Times New Roman" panose="02020603050405020304" pitchFamily="18" charset="0"/>
                        </a:rPr>
                        <a:t>420030647)</a:t>
                      </a:r>
                    </a:p>
                  </a:txBody>
                  <a:tcPr anchor="ctr">
                    <a:solidFill>
                      <a:srgbClr val="FFFFFF"/>
                    </a:solidFill>
                  </a:tcPr>
                </a:tc>
                <a:tc>
                  <a:txBody>
                    <a:bodyPr/>
                    <a:lstStyle/>
                    <a:p>
                      <a:pPr algn="l"/>
                      <a:r>
                        <a:rPr lang="en-IN" sz="1500" b="0" dirty="0">
                          <a:solidFill>
                            <a:srgbClr val="000000"/>
                          </a:solidFill>
                          <a:latin typeface="Times New Roman" panose="02020603050405020304" pitchFamily="18" charset="0"/>
                          <a:cs typeface="Times New Roman" panose="02020603050405020304" pitchFamily="18" charset="0"/>
                        </a:rPr>
                        <a:t>Backend / APIs</a:t>
                      </a:r>
                    </a:p>
                  </a:txBody>
                  <a:tcPr anchor="ctr">
                    <a:solidFill>
                      <a:srgbClr val="FFFFFF"/>
                    </a:solidFill>
                  </a:tcPr>
                </a:tc>
                <a:tc>
                  <a:txBody>
                    <a:bodyPr/>
                    <a:lstStyle/>
                    <a:p>
                      <a:pPr algn="l"/>
                      <a:r>
                        <a:rPr lang="en-IN" sz="1500" b="0" dirty="0">
                          <a:solidFill>
                            <a:srgbClr val="000000"/>
                          </a:solidFill>
                          <a:latin typeface="Times New Roman" panose="02020603050405020304" pitchFamily="18" charset="0"/>
                          <a:cs typeface="Times New Roman" panose="02020603050405020304" pitchFamily="18" charset="0"/>
                        </a:rPr>
                        <a:t>Designed REST APIs, business logic, and database integration for inventory and alert modules.</a:t>
                      </a:r>
                    </a:p>
                  </a:txBody>
                  <a:tcPr anchor="ctr">
                    <a:solidFill>
                      <a:srgbClr val="FFFFFF"/>
                    </a:solidFill>
                  </a:tcPr>
                </a:tc>
                <a:extLst>
                  <a:ext uri="{0D108BD9-81ED-4DB2-BD59-A6C34878D82A}">
                    <a16:rowId xmlns:a16="http://schemas.microsoft.com/office/drawing/2014/main" val="10001"/>
                  </a:ext>
                </a:extLst>
              </a:tr>
              <a:tr h="1474748">
                <a:tc>
                  <a:txBody>
                    <a:bodyPr/>
                    <a:lstStyle/>
                    <a:p>
                      <a:pPr algn="l"/>
                      <a:r>
                        <a:rPr lang="en-IN" sz="1500" b="0" dirty="0" err="1">
                          <a:solidFill>
                            <a:srgbClr val="000000"/>
                          </a:solidFill>
                          <a:latin typeface="Times New Roman" panose="02020603050405020304" pitchFamily="18" charset="0"/>
                          <a:cs typeface="Times New Roman" panose="02020603050405020304" pitchFamily="18" charset="0"/>
                        </a:rPr>
                        <a:t>K.Sree</a:t>
                      </a:r>
                      <a:r>
                        <a:rPr lang="en-IN" sz="1500" b="0" dirty="0">
                          <a:solidFill>
                            <a:srgbClr val="000000"/>
                          </a:solidFill>
                          <a:latin typeface="Times New Roman" panose="02020603050405020304" pitchFamily="18" charset="0"/>
                          <a:cs typeface="Times New Roman" panose="02020603050405020304" pitchFamily="18" charset="0"/>
                        </a:rPr>
                        <a:t> Vardhan (2420030711)</a:t>
                      </a:r>
                    </a:p>
                  </a:txBody>
                  <a:tcPr anchor="ctr">
                    <a:solidFill>
                      <a:srgbClr val="FFFFFF"/>
                    </a:solidFill>
                  </a:tcPr>
                </a:tc>
                <a:tc>
                  <a:txBody>
                    <a:bodyPr/>
                    <a:lstStyle/>
                    <a:p>
                      <a:pPr algn="l"/>
                      <a:r>
                        <a:rPr lang="en-IN" sz="1500" b="0" dirty="0">
                          <a:solidFill>
                            <a:srgbClr val="000000"/>
                          </a:solidFill>
                          <a:latin typeface="Times New Roman" panose="02020603050405020304" pitchFamily="18" charset="0"/>
                          <a:cs typeface="Times New Roman" panose="02020603050405020304" pitchFamily="18" charset="0"/>
                        </a:rPr>
                        <a:t>Frontend / UI</a:t>
                      </a:r>
                    </a:p>
                  </a:txBody>
                  <a:tcPr anchor="ctr">
                    <a:solidFill>
                      <a:srgbClr val="FFFFFF"/>
                    </a:solidFill>
                  </a:tcPr>
                </a:tc>
                <a:tc>
                  <a:txBody>
                    <a:bodyPr/>
                    <a:lstStyle/>
                    <a:p>
                      <a:pPr algn="l"/>
                      <a:r>
                        <a:rPr lang="en-IN" sz="1500" b="0" dirty="0">
                          <a:solidFill>
                            <a:srgbClr val="000000"/>
                          </a:solidFill>
                          <a:latin typeface="Times New Roman" panose="02020603050405020304" pitchFamily="18" charset="0"/>
                          <a:cs typeface="Times New Roman" panose="02020603050405020304" pitchFamily="18" charset="0"/>
                        </a:rPr>
                        <a:t>Built the React-based UI, dashboard views, and user interaction flows for staff and admin roles.</a:t>
                      </a:r>
                    </a:p>
                  </a:txBody>
                  <a:tcPr anchor="ctr">
                    <a:solidFill>
                      <a:srgbClr val="FFFFFF"/>
                    </a:solidFill>
                  </a:tcPr>
                </a:tc>
                <a:extLst>
                  <a:ext uri="{0D108BD9-81ED-4DB2-BD59-A6C34878D82A}">
                    <a16:rowId xmlns:a16="http://schemas.microsoft.com/office/drawing/2014/main" val="10002"/>
                  </a:ext>
                </a:extLst>
              </a:tr>
              <a:tr h="1817806">
                <a:tc>
                  <a:txBody>
                    <a:bodyPr/>
                    <a:lstStyle/>
                    <a:p>
                      <a:pPr algn="l"/>
                      <a:r>
                        <a:rPr lang="en-IN" sz="1500" b="0" dirty="0">
                          <a:solidFill>
                            <a:srgbClr val="000000"/>
                          </a:solidFill>
                          <a:latin typeface="Times New Roman" panose="02020603050405020304" pitchFamily="18" charset="0"/>
                          <a:cs typeface="Times New Roman" panose="02020603050405020304" pitchFamily="18" charset="0"/>
                        </a:rPr>
                        <a:t>M. Asleshitha (2420030740)</a:t>
                      </a:r>
                    </a:p>
                  </a:txBody>
                  <a:tcPr anchor="ctr">
                    <a:solidFill>
                      <a:srgbClr val="FFFFFF"/>
                    </a:solidFill>
                  </a:tcPr>
                </a:tc>
                <a:tc>
                  <a:txBody>
                    <a:bodyPr/>
                    <a:lstStyle/>
                    <a:p>
                      <a:pPr algn="l"/>
                      <a:r>
                        <a:rPr lang="en-IN" sz="1500" b="0" dirty="0">
                          <a:solidFill>
                            <a:srgbClr val="000000"/>
                          </a:solidFill>
                          <a:latin typeface="Times New Roman" panose="02020603050405020304" pitchFamily="18" charset="0"/>
                          <a:cs typeface="Times New Roman" panose="02020603050405020304" pitchFamily="18" charset="0"/>
                        </a:rPr>
                        <a:t>Database / Integration</a:t>
                      </a:r>
                    </a:p>
                  </a:txBody>
                  <a:tcPr anchor="ctr">
                    <a:solidFill>
                      <a:srgbClr val="FFFFFF"/>
                    </a:solidFill>
                  </a:tcPr>
                </a:tc>
                <a:tc>
                  <a:txBody>
                    <a:bodyPr/>
                    <a:lstStyle/>
                    <a:p>
                      <a:pPr algn="l"/>
                      <a:r>
                        <a:rPr lang="en-IN" sz="1500" b="0" dirty="0">
                          <a:solidFill>
                            <a:srgbClr val="000000"/>
                          </a:solidFill>
                          <a:latin typeface="Times New Roman" panose="02020603050405020304" pitchFamily="18" charset="0"/>
                          <a:cs typeface="Times New Roman" panose="02020603050405020304" pitchFamily="18" charset="0"/>
                        </a:rPr>
                        <a:t>Designed the database schema, handled module integration, and coordinated deployment on cloud.</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310" name="TextBox 309"/>
          <p:cNvSpPr txBox="1"/>
          <p:nvPr/>
        </p:nvSpPr>
        <p:spPr>
          <a:xfrm>
            <a:off x="393290" y="4358000"/>
            <a:ext cx="11248103" cy="2900000"/>
          </a:xfrm>
          <a:prstGeom prst="rect">
            <a:avLst/>
          </a:prstGeom>
          <a:noFill/>
        </p:spPr>
        <p:txBody>
          <a:bodyPr wrap="square">
            <a:normAutofit/>
          </a:bodyPr>
          <a:lstStyle/>
          <a:p>
            <a:pPr marL="0" indent="0" algn="l">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782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Date Placeholder 1">
            <a:extLst>
              <a:ext uri="{FF2B5EF4-FFF2-40B4-BE49-F238E27FC236}">
                <a16:creationId xmlns:a16="http://schemas.microsoft.com/office/drawing/2014/main" id="{EE1EEFAC-0ECA-A18F-A4B4-033D3711121C}"/>
              </a:ext>
            </a:extLst>
          </p:cNvPr>
          <p:cNvSpPr>
            <a:spLocks noGrp="1"/>
          </p:cNvSpPr>
          <p:nvPr>
            <p:ph type="dt" sz="half" idx="10"/>
          </p:nvPr>
        </p:nvSpPr>
        <p:spPr/>
        <p:txBody>
          <a:bodyPr/>
          <a:lstStyle/>
          <a:p>
            <a:fld id="{2DD399FE-9025-4738-A866-75F92FF5600E}" type="datetime1">
              <a:rPr lang="en-US" smtClean="0"/>
              <a:t>9/23/2026</a:t>
            </a:fld>
            <a:endParaRPr lang="en-US"/>
          </a:p>
        </p:txBody>
      </p:sp>
      <p:sp>
        <p:nvSpPr>
          <p:cNvPr id="4" name="Footer Placeholder 3">
            <a:extLst>
              <a:ext uri="{FF2B5EF4-FFF2-40B4-BE49-F238E27FC236}">
                <a16:creationId xmlns:a16="http://schemas.microsoft.com/office/drawing/2014/main" id="{444FD4BC-7EB9-607E-38E4-8C64E6E11A77}"/>
              </a:ext>
            </a:extLst>
          </p:cNvPr>
          <p:cNvSpPr>
            <a:spLocks noGrp="1"/>
          </p:cNvSpPr>
          <p:nvPr>
            <p:ph type="ftr" sz="quarter" idx="11"/>
          </p:nvPr>
        </p:nvSpPr>
        <p:spPr/>
        <p:txBody>
          <a:bodyPr/>
          <a:lstStyle/>
          <a:p>
            <a:r>
              <a:rPr lang="en-US"/>
              <a:t>CNAD Project Review-1</a:t>
            </a:r>
          </a:p>
        </p:txBody>
      </p:sp>
      <p:sp>
        <p:nvSpPr>
          <p:cNvPr id="6" name="Slide Number Placeholder 5">
            <a:extLst>
              <a:ext uri="{FF2B5EF4-FFF2-40B4-BE49-F238E27FC236}">
                <a16:creationId xmlns:a16="http://schemas.microsoft.com/office/drawing/2014/main" id="{124C535C-1312-10F3-FBDA-B7001433D544}"/>
              </a:ext>
            </a:extLst>
          </p:cNvPr>
          <p:cNvSpPr>
            <a:spLocks noGrp="1"/>
          </p:cNvSpPr>
          <p:nvPr>
            <p:ph type="sldNum" sz="quarter" idx="12"/>
          </p:nvPr>
        </p:nvSpPr>
        <p:spPr/>
        <p:txBody>
          <a:bodyPr/>
          <a:lstStyle/>
          <a:p>
            <a:fld id="{E639234F-78F1-4984-9C4D-D4C7AB587871}" type="slidenum">
              <a:rPr lang="en-US" smtClean="0"/>
              <a:t>12</a:t>
            </a:fld>
            <a:endParaRPr lang="en-US"/>
          </a:p>
        </p:txBody>
      </p:sp>
      <p:sp>
        <p:nvSpPr>
          <p:cNvPr id="9" name="Rectangle: Rounded Corners 8"/>
          <p:cNvSpPr/>
          <p:nvPr/>
        </p:nvSpPr>
        <p:spPr>
          <a:xfrm>
            <a:off x="3466000" y="136525"/>
            <a:ext cx="5260000" cy="708443"/>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Conclusion &amp; Future Work</a:t>
            </a:r>
          </a:p>
        </p:txBody>
      </p:sp>
      <p:sp>
        <p:nvSpPr>
          <p:cNvPr id="7" name="TextBox 6"/>
          <p:cNvSpPr txBox="1"/>
          <p:nvPr/>
        </p:nvSpPr>
        <p:spPr>
          <a:xfrm>
            <a:off x="471948" y="1100000"/>
            <a:ext cx="11248103" cy="4800000"/>
          </a:xfrm>
          <a:prstGeom prst="rect">
            <a:avLst/>
          </a:prstGeom>
          <a:noFill/>
        </p:spPr>
        <p:txBody>
          <a:bodyPr wrap="square">
            <a:normAutofit/>
          </a:bodyPr>
          <a:lstStyle/>
          <a:p>
            <a:pPr algn="just">
              <a:buNone/>
            </a:pPr>
            <a:r>
              <a:rPr lang="en-IN" sz="2400" dirty="0">
                <a:latin typeface="Times New Roman" panose="02020603050405020304" pitchFamily="18" charset="0"/>
                <a:cs typeface="Times New Roman" panose="02020603050405020304" pitchFamily="18" charset="0"/>
              </a:rPr>
              <a:t>The Smart Inventory and Warehouse Management Platform successfully addresses the key challenges of manual, error-prone inventory processes by providing a centralized, automated, and real-time solution for tracking stock, managing warehouse operations, and generating actionable insights.</a:t>
            </a:r>
          </a:p>
          <a:p>
            <a:pPr algn="just">
              <a:buNone/>
            </a:pPr>
            <a:r>
              <a:rPr lang="en-IN" sz="2400" dirty="0">
                <a:latin typeface="Times New Roman" panose="02020603050405020304" pitchFamily="18" charset="0"/>
                <a:cs typeface="Times New Roman" panose="02020603050405020304" pitchFamily="18" charset="0"/>
              </a:rPr>
              <a:t>Through its modular architecture built on React, Node.js/Spring Boot, and MySQL/MongoDB, the system achieves accurate data management, timely alerts, and a user-friendly analytics dashboard, improving overall operational efficiency and decision-making for warehouse teams.</a:t>
            </a:r>
          </a:p>
          <a:p>
            <a:pPr algn="just">
              <a:buNone/>
            </a:pPr>
            <a:r>
              <a:rPr lang="en-IN" sz="2400" dirty="0">
                <a:latin typeface="Times New Roman" panose="02020603050405020304" pitchFamily="18" charset="0"/>
                <a:cs typeface="Times New Roman" panose="02020603050405020304" pitchFamily="18" charset="0"/>
              </a:rPr>
              <a:t>Future enhancements include integrating IoT-based sensors and RFID/barcode scanners for fully automated stock updates, adding predictive analytics for demand forecasting, supporting multi-warehouse and multi-tenant operations, and extending the platform with a dedicated mobile application for on-the-go inventory management.</a:t>
            </a:r>
          </a:p>
        </p:txBody>
      </p:sp>
    </p:spTree>
    <p:extLst>
      <p:ext uri="{BB962C8B-B14F-4D97-AF65-F5344CB8AC3E}">
        <p14:creationId xmlns:p14="http://schemas.microsoft.com/office/powerpoint/2010/main" val="39177829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1350</Words>
  <Application>Microsoft Office PowerPoint</Application>
  <PresentationFormat>Widescreen</PresentationFormat>
  <Paragraphs>145</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Kakarla Sree Vardhan</cp:lastModifiedBy>
  <cp:revision>38</cp:revision>
  <dcterms:created xsi:type="dcterms:W3CDTF">2026-08-08T06:33:56Z</dcterms:created>
  <dcterms:modified xsi:type="dcterms:W3CDTF">2026-09-23T04:09:36Z</dcterms:modified>
</cp:coreProperties>
</file>