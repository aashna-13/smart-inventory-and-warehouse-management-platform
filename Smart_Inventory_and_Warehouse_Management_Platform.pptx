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904" r:id="rId10"/>
    <p:sldId id="905" r:id="rId11"/>
    <p:sldId id="260" r:id="rId12"/>
    <p:sldId id="906" r:id="rId13"/>
    <p:sldId id="907" r:id="rId14"/>
    <p:sldId id="90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156003"/>
              </p:ext>
            </p:extLst>
          </p:nvPr>
        </p:nvGraphicFramePr>
        <p:xfrm>
          <a:off x="8193271" y="4898509"/>
          <a:ext cx="3702050" cy="131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Aashna Begum – 2420030647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Sree Vardhan – 2420030711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M.Asleshitha</a:t>
                      </a: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- 2420030740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901526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 Srilatha Patha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CNAD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B.Tech CSE Project Review – I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Inventory and Warehouse Management Platform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 CSE Project Review – I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0020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Manual, register- and spreadsheet-based stock tracking is slow and highly error-prone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Warehouse staff and managers lack real-time visibility into stock levels across locations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Frequent stockouts and overstocking increase carrying cost and cause lost sales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Disorganized shelf/bin mapping delays order picking and fulfillment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No automated early-warning mechanism for low stock, expiry, or slow-moving items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Existing options are either costly enterprise WMS suites or overly basic spreadsheets, leaving a gap for growing SMEs</a:t>
            </a:r>
          </a:p>
        </p:txBody>
      </p:sp>
      <p:pic>
        <p:nvPicPr>
          <p:cNvPr id="7" name="Picture 6" descr="circle_warehous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737360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09560" y="2359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Multiple</a:t>
            </a:r>
          </a:p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Warehouses</a:t>
            </a:r>
          </a:p>
        </p:txBody>
      </p:sp>
      <p:pic>
        <p:nvPicPr>
          <p:cNvPr id="9" name="Picture 8" descr="circle_ga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017520"/>
            <a:ext cx="566928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9560" y="36393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Data Silos &amp;</a:t>
            </a:r>
          </a:p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Manual Errors</a:t>
            </a:r>
          </a:p>
        </p:txBody>
      </p:sp>
      <p:pic>
        <p:nvPicPr>
          <p:cNvPr id="11" name="Picture 10" descr="circle_cloc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4297680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49194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Delayed Order</a:t>
            </a:r>
          </a:p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Fulfillment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5448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Design a centralized, cloud-based platform for real-time inventory and warehouse tracking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Automate stock-in / stock-out operations using barcode and QR-code scanning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Provide role-based dashboards for admins, warehouse managers, and floor staff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Build a demand-forecasting module using machine learning to reduce stockouts and overstock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Generate real-time low-stock and expiry alerts through in-app and e-mail notifications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Support multiple warehouses and users with secure, permissioned access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Expose REST APIs to integrate with existing ERP and e-commerce platforms</a:t>
            </a:r>
          </a:p>
        </p:txBody>
      </p:sp>
      <p:pic>
        <p:nvPicPr>
          <p:cNvPr id="7" name="Picture 6" descr="circle_targe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737360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09560" y="2359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Goal-driven</a:t>
            </a:r>
          </a:p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Design</a:t>
            </a:r>
          </a:p>
        </p:txBody>
      </p:sp>
      <p:pic>
        <p:nvPicPr>
          <p:cNvPr id="9" name="Picture 8" descr="circle_scan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017520"/>
            <a:ext cx="566928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9560" y="36393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Scan-based</a:t>
            </a:r>
          </a:p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Automation</a:t>
            </a:r>
          </a:p>
        </p:txBody>
      </p:sp>
      <p:pic>
        <p:nvPicPr>
          <p:cNvPr id="11" name="Picture 10" descr="circle_chart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4297680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49194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Data-driven</a:t>
            </a:r>
          </a:p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Decisions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50" b="1">
                          <a:solidFill>
                            <a:srgbClr val="202020"/>
                          </a:solidFill>
                          <a:latin typeface="Calibri"/>
                        </a:rPr>
                        <a:t>Wang et al.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Calibri"/>
                        </a:rPr>
                        <a:t>RFID-based digital warehouse management system: a tobacco-industry case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202020"/>
                          </a:solidFill>
                          <a:latin typeface="Calibri"/>
                        </a:rPr>
                        <a:t>RFID tags on stock units, integrated with a central warehouse database for real-time 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202020"/>
                          </a:solidFill>
                          <a:latin typeface="Calibri"/>
                        </a:rPr>
                        <a:t>Real-time RFID tracking markedly improved inventory visibility and accuracy over manual audits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202020"/>
                          </a:solidFill>
                          <a:latin typeface="Calibri"/>
                        </a:rPr>
                        <a:t>High RFID hardware/tag cost; limited testing beyond a single industry case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50" b="1">
                          <a:solidFill>
                            <a:srgbClr val="202020"/>
                          </a:solidFill>
                          <a:latin typeface="Calibri"/>
                        </a:rPr>
                        <a:t>Ding, W.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Calibri"/>
                        </a:rPr>
                        <a:t>Smart warehouse management system based on the IoT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202020"/>
                          </a:solidFill>
                          <a:latin typeface="Calibri"/>
                        </a:rPr>
                        <a:t>IoT sensor network combined with a centralized cloud architecture for stock monitoring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202020"/>
                          </a:solidFill>
                          <a:latin typeface="Calibri"/>
                        </a:rPr>
                        <a:t>Reduced manual data-entry errors and enabled remote, real-time monitoring of stock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202020"/>
                          </a:solidFill>
                          <a:latin typeface="Calibri"/>
                        </a:rPr>
                        <a:t>Limited validation on large-scale, multi-warehouse deployments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50" b="1">
                          <a:solidFill>
                            <a:srgbClr val="202020"/>
                          </a:solidFill>
                          <a:latin typeface="Calibri"/>
                        </a:rPr>
                        <a:t>Fatima &amp; Salam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Calibri"/>
                        </a:rPr>
                        <a:t>Data-driven predictive framework for inventory optimization using context-augmented ML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202020"/>
                          </a:solidFill>
                          <a:latin typeface="Calibri"/>
                        </a:rPr>
                        <a:t>Compared XGBoost, ARIMA, Facebook Prophet and SVR for demand prediction with external factors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202020"/>
                          </a:solidFill>
                          <a:latin typeface="Calibri"/>
                        </a:rPr>
                        <a:t>XGBoost gave the lowest forecast error; contextual features (holidays, weekday) boosted accuracy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50" b="0">
                          <a:solidFill>
                            <a:srgbClr val="202020"/>
                          </a:solidFill>
                          <a:latin typeface="Calibri"/>
                        </a:rPr>
                        <a:t>Forecast quality depends heavily on availability of clean external/contextual data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96596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Most existing systems use either barcode OR RFID in isolation, not a unified hybrid approach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Very few solutions combine real-time tracking with predictive, ML-based demand forecasting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Warehouse operations and e-commerce/ERP backends are rarely synchronized in real time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Enterprise-grade WMS platforms (SAP EWM, Oracle WMS) are cost-prohibitive for SMEs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Lightweight open solutions lack role-based multi-warehouse dashboards and audit trails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Alerts for low stock or slow-moving inventory are largely manual or absent</a:t>
            </a:r>
          </a:p>
        </p:txBody>
      </p:sp>
      <p:pic>
        <p:nvPicPr>
          <p:cNvPr id="7" name="Picture 6" descr="circle_ga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737360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09560" y="2359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Fragmented</a:t>
            </a:r>
          </a:p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Tech Stacks</a:t>
            </a:r>
          </a:p>
        </p:txBody>
      </p:sp>
      <p:pic>
        <p:nvPicPr>
          <p:cNvPr id="9" name="Picture 8" descr="circle_brain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017520"/>
            <a:ext cx="566928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9560" y="36393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Little Predictive</a:t>
            </a:r>
          </a:p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Intelligence</a:t>
            </a:r>
          </a:p>
        </p:txBody>
      </p:sp>
      <p:pic>
        <p:nvPicPr>
          <p:cNvPr id="11" name="Picture 10" descr="circle_user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4297680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49194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Costly for</a:t>
            </a:r>
          </a:p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SMEs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737360"/>
            <a:ext cx="6949440" cy="367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Hybrid barcode/QR + RFID tracking for flexible, low-cost stock-in/stock-out automation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Built-in ML demand-forecasting engine that recommends reorder points per SKU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Real-time low-stock, expiry, and anomaly alerts pushed via app and e-mail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Unified role-based dashboard spanning multiple warehouses and user roles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Lightweight, API-first architecture that is affordable and easy to integrate for SMEs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Complete audit trail of every stock movement for accountability and traceability</a:t>
            </a:r>
          </a:p>
        </p:txBody>
      </p:sp>
      <p:pic>
        <p:nvPicPr>
          <p:cNvPr id="7" name="Picture 6" descr="circle_lightbulb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20240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09560" y="25420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Novel Hybrid</a:t>
            </a:r>
          </a:p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Tracking</a:t>
            </a:r>
          </a:p>
        </p:txBody>
      </p:sp>
      <p:pic>
        <p:nvPicPr>
          <p:cNvPr id="9" name="Picture 8" descr="circle_brai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200400"/>
            <a:ext cx="566928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9560" y="38221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AI-Powered</a:t>
            </a:r>
          </a:p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Forecasting</a:t>
            </a:r>
          </a:p>
        </p:txBody>
      </p:sp>
      <p:pic>
        <p:nvPicPr>
          <p:cNvPr id="11" name="Picture 10" descr="circle_bolt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4480560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51023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Real-time</a:t>
            </a:r>
          </a:p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Alerts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00000"/>
                </a:solidFill>
                <a:latin typeface="Calibri"/>
              </a:rPr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508760"/>
            <a:ext cx="8595360" cy="86868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ircle_mobi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673352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9928" y="1581912"/>
            <a:ext cx="7571232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dirty="0">
                <a:solidFill>
                  <a:srgbClr val="FFFFFF"/>
                </a:solidFill>
                <a:latin typeface="Calibri"/>
              </a:rPr>
              <a:t>Client Layer</a:t>
            </a:r>
          </a:p>
          <a:p>
            <a:r>
              <a:rPr sz="1600" dirty="0">
                <a:solidFill>
                  <a:srgbClr val="DDE2EE"/>
                </a:solidFill>
                <a:latin typeface="Calibri"/>
              </a:rPr>
              <a:t>Responsive web dashboard (React) and mobile app for staff &amp; managers</a:t>
            </a:r>
          </a:p>
        </p:txBody>
      </p:sp>
      <p:sp>
        <p:nvSpPr>
          <p:cNvPr id="9" name="Down Arrow 8"/>
          <p:cNvSpPr/>
          <p:nvPr/>
        </p:nvSpPr>
        <p:spPr>
          <a:xfrm>
            <a:off x="5010912" y="2397440"/>
            <a:ext cx="219456" cy="216032"/>
          </a:xfrm>
          <a:prstGeom prst="downArrow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2633472"/>
            <a:ext cx="8595360" cy="86868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ircle_serve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798064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09928" y="2706624"/>
            <a:ext cx="7571232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dirty="0">
                <a:solidFill>
                  <a:srgbClr val="FFFFFF"/>
                </a:solidFill>
                <a:latin typeface="Calibri"/>
              </a:rPr>
              <a:t>Application / API Layer</a:t>
            </a:r>
          </a:p>
          <a:p>
            <a:r>
              <a:rPr sz="1600" dirty="0">
                <a:solidFill>
                  <a:srgbClr val="DDE2EE"/>
                </a:solidFill>
                <a:latin typeface="Calibri"/>
              </a:rPr>
              <a:t>REST APIs, authentication, role-based access control and business logic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010912" y="3522152"/>
            <a:ext cx="219456" cy="216032"/>
          </a:xfrm>
          <a:prstGeom prst="downArrow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3758184"/>
            <a:ext cx="8595360" cy="86868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ircle_databas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3922776"/>
            <a:ext cx="502920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9928" y="3831336"/>
            <a:ext cx="7571232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dirty="0">
                <a:solidFill>
                  <a:srgbClr val="FFFFFF"/>
                </a:solidFill>
                <a:latin typeface="Calibri"/>
              </a:rPr>
              <a:t>Data &amp; Intelligence Layer</a:t>
            </a:r>
          </a:p>
          <a:p>
            <a:r>
              <a:rPr sz="1600" dirty="0">
                <a:solidFill>
                  <a:srgbClr val="DDE2EE"/>
                </a:solidFill>
                <a:latin typeface="Calibri"/>
              </a:rPr>
              <a:t>PostgreSQL/MongoDB database plus the ML demand-forecasting engine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010912" y="4646864"/>
            <a:ext cx="219456" cy="216032"/>
          </a:xfrm>
          <a:prstGeom prst="downArrow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4882896"/>
            <a:ext cx="8595360" cy="86868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047488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09928" y="4956048"/>
            <a:ext cx="7571232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dirty="0">
                <a:solidFill>
                  <a:srgbClr val="FFFFFF"/>
                </a:solidFill>
                <a:latin typeface="Calibri"/>
              </a:rPr>
              <a:t>Warehouse / Edge Layer</a:t>
            </a:r>
          </a:p>
          <a:p>
            <a:r>
              <a:rPr sz="1600" dirty="0">
                <a:solidFill>
                  <a:srgbClr val="DDE2EE"/>
                </a:solidFill>
                <a:latin typeface="Calibri"/>
              </a:rPr>
              <a:t>Barcode &amp; QR scanners, RFID readers and IoT sensors at each warehouse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554480"/>
            <a:ext cx="1737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Data flows upward from warehouse hardware to the dashboard; commands and forecasts flow back down.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00000"/>
                </a:solidFill>
                <a:latin typeface="Calibri"/>
              </a:rPr>
              <a:t>Technology Stack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600200"/>
            <a:ext cx="2395728" cy="19659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ircle_reac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56232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06040"/>
            <a:ext cx="2212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1295C"/>
                </a:solidFill>
                <a:latin typeface="Calibri"/>
              </a:rPr>
              <a:t>Frontend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Calibri"/>
              </a:rPr>
              <a:t>React.js, Tailwind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600200"/>
            <a:ext cx="2395728" cy="19659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ircle_serve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856232"/>
            <a:ext cx="56692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37560" y="2606040"/>
            <a:ext cx="2212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1295C"/>
                </a:solidFill>
                <a:latin typeface="Calibri"/>
              </a:rPr>
              <a:t>Backend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Calibri"/>
              </a:rPr>
              <a:t>Node.js / Express, REST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600200"/>
            <a:ext cx="2395728" cy="19659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ircle_databas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1856232"/>
            <a:ext cx="566928" cy="566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97880" y="2606040"/>
            <a:ext cx="2212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1295C"/>
                </a:solidFill>
                <a:latin typeface="Calibri"/>
              </a:rPr>
              <a:t>Database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Calibri"/>
              </a:rPr>
              <a:t>PostgreSQL / 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600200"/>
            <a:ext cx="2395728" cy="19659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ircle_cloud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856232"/>
            <a:ext cx="566928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58200" y="2606040"/>
            <a:ext cx="2212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1295C"/>
                </a:solidFill>
                <a:latin typeface="Calibri"/>
              </a:rPr>
              <a:t>Cloud &amp; DevOps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Calibri"/>
              </a:rPr>
              <a:t>AWS / Azure, Docker, CI-CD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2395728" cy="19659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4050792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800600"/>
            <a:ext cx="2212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1295C"/>
                </a:solidFill>
                <a:latin typeface="Calibri"/>
              </a:rPr>
              <a:t>Machine Learning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Calibri"/>
              </a:rPr>
              <a:t>Python, scikit-learn, TensorFlow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794760"/>
            <a:ext cx="2395728" cy="19659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circle_chip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0520" y="4050792"/>
            <a:ext cx="566928" cy="5669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337560" y="4800600"/>
            <a:ext cx="2212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1295C"/>
                </a:solidFill>
                <a:latin typeface="Calibri"/>
              </a:rPr>
              <a:t>IoT &amp; Hardware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Calibri"/>
              </a:rPr>
              <a:t>RFID reader, barcode scanner, ESP32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3794760"/>
            <a:ext cx="2395728" cy="19659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circle_shield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4050792"/>
            <a:ext cx="566928" cy="566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97880" y="4800600"/>
            <a:ext cx="2212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1295C"/>
                </a:solidFill>
                <a:latin typeface="Calibri"/>
              </a:rPr>
              <a:t>Security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Calibri"/>
              </a:rPr>
              <a:t>JWT auth, OAuth2, role-based access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794760"/>
            <a:ext cx="2395728" cy="19659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circle_mobile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1160" y="4050792"/>
            <a:ext cx="566928" cy="5669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58200" y="4800600"/>
            <a:ext cx="2212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1295C"/>
                </a:solidFill>
                <a:latin typeface="Calibri"/>
              </a:rPr>
              <a:t>Mobile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Calibri"/>
              </a:rPr>
              <a:t>React Native (Android / iOS)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02920" y="3246120"/>
            <a:ext cx="11186160" cy="0"/>
          </a:xfrm>
          <a:prstGeom prst="line">
            <a:avLst/>
          </a:prstGeom>
          <a:ln w="31750">
            <a:solidFill>
              <a:srgbClr val="C7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202436" y="3145536"/>
            <a:ext cx="201168" cy="201168"/>
          </a:xfrm>
          <a:prstGeom prst="ellipse">
            <a:avLst/>
          </a:prstGeom>
          <a:solidFill>
            <a:srgbClr val="21295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9284" y="2468880"/>
            <a:ext cx="347472" cy="347472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95C"/>
                </a:solidFill>
                <a:latin typeface="Calibri"/>
              </a:rPr>
              <a:t>Requirement Analysis</a:t>
            </a:r>
          </a:p>
          <a:p>
            <a:pPr algn="ctr"/>
            <a:r>
              <a:rPr sz="1050" b="1">
                <a:solidFill>
                  <a:srgbClr val="21295C"/>
                </a:solidFill>
                <a:latin typeface="Calibri"/>
              </a:rPr>
              <a:t>&amp; Literature Survey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062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  <a:latin typeface="Calibri"/>
              </a:rPr>
              <a:t>Weeks 1-2</a:t>
            </a:r>
          </a:p>
        </p:txBody>
      </p:sp>
      <p:sp>
        <p:nvSpPr>
          <p:cNvPr id="11" name="Oval 10"/>
          <p:cNvSpPr/>
          <p:nvPr/>
        </p:nvSpPr>
        <p:spPr>
          <a:xfrm>
            <a:off x="3119628" y="3145536"/>
            <a:ext cx="201168" cy="20116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46476" y="2468880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0112" y="34290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95C"/>
                </a:solidFill>
                <a:latin typeface="Calibri"/>
              </a:rPr>
              <a:t>System Design &amp;</a:t>
            </a:r>
          </a:p>
          <a:p>
            <a:pPr algn="ctr"/>
            <a:r>
              <a:rPr sz="1050" b="1">
                <a:solidFill>
                  <a:srgbClr val="21295C"/>
                </a:solidFill>
                <a:latin typeface="Calibri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0112" y="42062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  <a:latin typeface="Calibri"/>
              </a:rPr>
              <a:t>Weeks 3-4</a:t>
            </a:r>
          </a:p>
        </p:txBody>
      </p:sp>
      <p:sp>
        <p:nvSpPr>
          <p:cNvPr id="15" name="Oval 14"/>
          <p:cNvSpPr/>
          <p:nvPr/>
        </p:nvSpPr>
        <p:spPr>
          <a:xfrm>
            <a:off x="5036820" y="3145536"/>
            <a:ext cx="201168" cy="20116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963668" y="2468880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7304" y="34290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95C"/>
                </a:solidFill>
                <a:latin typeface="Calibri"/>
              </a:rPr>
              <a:t>Frontend &amp; Backend</a:t>
            </a:r>
          </a:p>
          <a:p>
            <a:pPr algn="ctr"/>
            <a:r>
              <a:rPr sz="1050" b="1">
                <a:solidFill>
                  <a:srgbClr val="21295C"/>
                </a:solidFill>
                <a:latin typeface="Calibri"/>
              </a:rPr>
              <a:t>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7304" y="42062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  <a:latin typeface="Calibri"/>
              </a:rPr>
              <a:t>Weeks 5-8</a:t>
            </a:r>
          </a:p>
        </p:txBody>
      </p:sp>
      <p:sp>
        <p:nvSpPr>
          <p:cNvPr id="19" name="Oval 18"/>
          <p:cNvSpPr/>
          <p:nvPr/>
        </p:nvSpPr>
        <p:spPr>
          <a:xfrm>
            <a:off x="6954012" y="3145536"/>
            <a:ext cx="201168" cy="201168"/>
          </a:xfrm>
          <a:prstGeom prst="ellipse">
            <a:avLst/>
          </a:prstGeom>
          <a:solidFill>
            <a:srgbClr val="21295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80860" y="2468880"/>
            <a:ext cx="347472" cy="347472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34290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95C"/>
                </a:solidFill>
                <a:latin typeface="Calibri"/>
              </a:rPr>
              <a:t>Barcode / RFID</a:t>
            </a:r>
          </a:p>
          <a:p>
            <a:pPr algn="ctr"/>
            <a:r>
              <a:rPr sz="1050" b="1">
                <a:solidFill>
                  <a:srgbClr val="21295C"/>
                </a:solidFill>
                <a:latin typeface="Calibri"/>
              </a:rPr>
              <a:t>Hardware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42062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  <a:latin typeface="Calibri"/>
              </a:rPr>
              <a:t>Weeks 9-10</a:t>
            </a:r>
          </a:p>
        </p:txBody>
      </p:sp>
      <p:sp>
        <p:nvSpPr>
          <p:cNvPr id="23" name="Oval 22"/>
          <p:cNvSpPr/>
          <p:nvPr/>
        </p:nvSpPr>
        <p:spPr>
          <a:xfrm>
            <a:off x="8871204" y="3145536"/>
            <a:ext cx="201168" cy="20116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798052" y="2468880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1688" y="34290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95C"/>
                </a:solidFill>
                <a:latin typeface="Calibri"/>
              </a:rPr>
              <a:t>ML Forecasting Model</a:t>
            </a:r>
          </a:p>
          <a:p>
            <a:pPr algn="ctr"/>
            <a:r>
              <a:rPr sz="1050" b="1">
                <a:solidFill>
                  <a:srgbClr val="21295C"/>
                </a:solidFill>
                <a:latin typeface="Calibri"/>
              </a:rPr>
              <a:t>&amp;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1688" y="42062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  <a:latin typeface="Calibri"/>
              </a:rPr>
              <a:t>Weeks 11-13</a:t>
            </a:r>
          </a:p>
        </p:txBody>
      </p:sp>
      <p:sp>
        <p:nvSpPr>
          <p:cNvPr id="27" name="Oval 26"/>
          <p:cNvSpPr/>
          <p:nvPr/>
        </p:nvSpPr>
        <p:spPr>
          <a:xfrm>
            <a:off x="10788396" y="3145536"/>
            <a:ext cx="201168" cy="20116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715244" y="2468880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8880" y="34290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1295C"/>
                </a:solidFill>
                <a:latin typeface="Calibri"/>
              </a:rPr>
              <a:t>Deployment &amp; Final</a:t>
            </a:r>
          </a:p>
          <a:p>
            <a:pPr algn="ctr"/>
            <a:r>
              <a:rPr sz="1050" b="1">
                <a:solidFill>
                  <a:srgbClr val="21295C"/>
                </a:solidFill>
                <a:latin typeface="Calibri"/>
              </a:rPr>
              <a:t>Documentation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8880" y="42062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  <a:latin typeface="Calibri"/>
              </a:rPr>
              <a:t>Weeks 14-16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9204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Calibri"/>
              </a:rPr>
              <a:t>Technical feasibility: built entirely on open-source frameworks and low-cost RFID/barcode hardware. Economic feasibility: cloud-hosted deployment keeps infrastructure cost low for SME adoption. Operational feasibility: role-based UI requires minimal training for warehouse staff.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Calibri"/>
              </a:rPr>
              <a:t>Expected Outcomes &amp;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00200"/>
            <a:ext cx="6949440" cy="430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A fully functional web and mobile dashboard giving real-time, multi-warehouse stock visibility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Significant reduction in manual stock-reconciliation effort through barcode/RFID automation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Fewer stockouts and less overstock through ML-driven reorder-point recommendations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Automated low-stock and expiry alerts delivered in real time to the right stakeholders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A centralized audit trail that improves accountability and traceability of stock movement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A scalable architecture ready to onboard additional warehouse branches and users</a:t>
            </a:r>
          </a:p>
        </p:txBody>
      </p:sp>
      <p:pic>
        <p:nvPicPr>
          <p:cNvPr id="7" name="Picture 6" descr="circle_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737360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09560" y="23591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Higher Stock</a:t>
            </a:r>
          </a:p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Accuracy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017520"/>
            <a:ext cx="566928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9560" y="36393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Faster Order</a:t>
            </a:r>
          </a:p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Fulfillment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4297680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49194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Reliable Demand</a:t>
            </a:r>
          </a:p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Forecasts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Calibri"/>
              </a:rPr>
              <a:t>Conclusion &amp; Future 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600200"/>
            <a:ext cx="5074920" cy="43434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95C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526280" cy="2931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Unifies inventory tracking, warehouse operations, and demand forecasting into one affordable platform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Combines barcode/QR and RFID automation with an ML forecasting engine and role-based dashboards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Reduces manual errors, cuts stockouts, and speeds up fulfillment for SMEs and growing enterprises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600200"/>
            <a:ext cx="5074920" cy="43434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95C"/>
                </a:solidFill>
                <a:latin typeface="Calibri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77440"/>
            <a:ext cx="4526280" cy="30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dirty="0">
                <a:solidFill>
                  <a:srgbClr val="222222"/>
                </a:solidFill>
                <a:latin typeface="Calibri"/>
              </a:rPr>
              <a:t>•  Computer-vision based shelf and pallet monitoring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dirty="0">
                <a:solidFill>
                  <a:srgbClr val="222222"/>
                </a:solidFill>
                <a:latin typeface="Calibri"/>
              </a:rPr>
              <a:t>•  Drone-assisted inventory audits for large warehouses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dirty="0">
                <a:solidFill>
                  <a:srgbClr val="222222"/>
                </a:solidFill>
                <a:latin typeface="Calibri"/>
              </a:rPr>
              <a:t>•  Blockchain-based traceability for high-value goods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dirty="0">
                <a:solidFill>
                  <a:srgbClr val="222222"/>
                </a:solidFill>
                <a:latin typeface="Calibri"/>
              </a:rPr>
              <a:t>•  Deeper integration with major ERPs (SAP, Oracle NetSuite) and marketplaces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00000"/>
                </a:solidFill>
                <a:latin typeface="Calibri"/>
              </a:rPr>
              <a:t>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10607040" cy="4220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 H. Wang, S. Chen, and Y. Xie, "An RFID-based digital warehouse management system in the tobacco industry: A case study," International Journal of Production Research, vol. 48, no. 9, pp. 2513-2548, 2010.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 W. Ding, "Study of smart warehouse management system based on the IoT," in Proc. Int. Conf. on Logistics Engineering, Management and Computer Science, 2015.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 A. Fatima and M. A. Salam, "A data-driven predictive framework for inventory optimization using context-augmented machine learning models," </a:t>
            </a:r>
            <a:r>
              <a:rPr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preprint, 2025.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 W. Qin, R. Y. Zhong, H. Y. Dai, and Z. L. Zhuang, "An assessment model for RFID impacts on prevention and visibility of inventory inaccuracy," Advanced Engineering Informatics, vol. 34, pp. 70-79, 2017.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 "Multi-agent deep reinforcement learning for integrated demand forecasting and inventory optimization in sensor-enabled retail supply chains," PMC, 2025.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 "IoT application for smart inventory management system based on RFID," IEEE Conference Publication, IEEE Xplore, 2025.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1271</Words>
  <Application>Microsoft Office PowerPoint</Application>
  <PresentationFormat>Widescreen</PresentationFormat>
  <Paragraphs>200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Kakarla Sree Vardhan</cp:lastModifiedBy>
  <cp:revision>33</cp:revision>
  <dcterms:created xsi:type="dcterms:W3CDTF">2026-08-08T06:33:56Z</dcterms:created>
  <dcterms:modified xsi:type="dcterms:W3CDTF">2026-08-29T05:12:43Z</dcterms:modified>
</cp:coreProperties>
</file>